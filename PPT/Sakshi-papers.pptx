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52854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8007635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72933571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4732975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4748579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877019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1426D-F0E8-88EB-E567-B0A0CC2D6A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D1AE8-B1DC-B18A-474B-CB0DC6F0C9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A55ED5-998B-F383-242C-2B1D37EA99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7F8F5A-152E-5569-4AF7-EF8935882F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D12E30-72CA-F2FF-7F62-75013E41AF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96735091" name="Group 24"/>
          <p:cNvGrpSpPr/>
          <p:nvPr/>
        </p:nvGrpSpPr>
        <p:grpSpPr bwMode="auto">
          <a:xfrm>
            <a:off x="270933" y="0"/>
            <a:ext cx="5037666" cy="6858000"/>
            <a:chOff x="270933" y="0"/>
            <a:chExt cx="5037666" cy="6858000"/>
          </a:xfrm>
        </p:grpSpPr>
        <p:sp>
          <p:nvSpPr>
            <p:cNvPr id="910009291" name="Freeform 6"/>
            <p:cNvSpPr/>
            <p:nvPr/>
          </p:nvSpPr>
          <p:spPr bwMode="auto">
            <a:xfrm>
              <a:off x="855133" y="0"/>
              <a:ext cx="1820333" cy="3971925"/>
            </a:xfrm>
            <a:custGeom>
              <a:avLst/>
              <a:gdLst/>
              <a:ahLst/>
              <a:cxnLst/>
              <a:rect l="0" t="0" r="r" b="b"/>
              <a:pathLst>
                <a:path w="860" h="2502" fill="norm" stroke="1" extrusionOk="0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93540287" name="Freeform 7"/>
            <p:cNvSpPr/>
            <p:nvPr/>
          </p:nvSpPr>
          <p:spPr bwMode="auto">
            <a:xfrm>
              <a:off x="270933" y="0"/>
              <a:ext cx="1782233" cy="3862387"/>
            </a:xfrm>
            <a:custGeom>
              <a:avLst/>
              <a:gdLst/>
              <a:ahLst/>
              <a:cxnLst/>
              <a:rect l="0" t="0" r="r" b="b"/>
              <a:pathLst>
                <a:path w="842" h="2433" fill="norm" stroke="1" extrusionOk="0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086026386" name="Freeform 8"/>
            <p:cNvSpPr/>
            <p:nvPr/>
          </p:nvSpPr>
          <p:spPr bwMode="auto">
            <a:xfrm>
              <a:off x="277283" y="3776662"/>
              <a:ext cx="2582333" cy="3081337"/>
            </a:xfrm>
            <a:custGeom>
              <a:avLst/>
              <a:gdLst/>
              <a:ahLst/>
              <a:cxnLst/>
              <a:rect l="0" t="0" r="r" b="b"/>
              <a:pathLst>
                <a:path w="1220" h="1941" fill="norm" stroke="1" extrusionOk="0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515911068" name="Freeform 9"/>
            <p:cNvSpPr/>
            <p:nvPr/>
          </p:nvSpPr>
          <p:spPr bwMode="auto">
            <a:xfrm>
              <a:off x="861483" y="3886200"/>
              <a:ext cx="3164417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 fill="norm" stroke="1" extrusionOk="0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67448392" name="Freeform 10"/>
            <p:cNvSpPr/>
            <p:nvPr/>
          </p:nvSpPr>
          <p:spPr bwMode="auto">
            <a:xfrm>
              <a:off x="855133" y="3881436"/>
              <a:ext cx="4453466" cy="2976562"/>
            </a:xfrm>
            <a:custGeom>
              <a:avLst/>
              <a:gdLst/>
              <a:ahLst/>
              <a:cxnLst/>
              <a:rect l="0" t="0" r="r" b="b"/>
              <a:pathLst>
                <a:path w="2104" h="1875" fill="norm" stroke="1" extrusionOk="0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05459908" name="Freeform 11"/>
            <p:cNvSpPr/>
            <p:nvPr/>
          </p:nvSpPr>
          <p:spPr bwMode="auto">
            <a:xfrm>
              <a:off x="270933" y="3771900"/>
              <a:ext cx="3547533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 fill="norm" stroke="1" extrusionOk="0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390154173" name="Title 1"/>
          <p:cNvSpPr>
            <a:spLocks noGrp="1"/>
          </p:cNvSpPr>
          <p:nvPr>
            <p:ph type="ctrTitle"/>
          </p:nvPr>
        </p:nvSpPr>
        <p:spPr bwMode="auto">
          <a:xfrm>
            <a:off x="2319563" y="914400"/>
            <a:ext cx="9262836" cy="3488265"/>
          </a:xfrm>
        </p:spPr>
        <p:txBody>
          <a:bodyPr anchor="b">
            <a:normAutofit/>
          </a:bodyPr>
          <a:lstStyle>
            <a:lvl1pPr algn="r">
              <a:defRPr sz="5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43659048" name="Subtitle 2"/>
          <p:cNvSpPr>
            <a:spLocks noGrp="1"/>
          </p:cNvSpPr>
          <p:nvPr>
            <p:ph type="subTitle" idx="1"/>
          </p:nvPr>
        </p:nvSpPr>
        <p:spPr bwMode="auto">
          <a:xfrm>
            <a:off x="3898983" y="4402665"/>
            <a:ext cx="7683417" cy="136453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00818499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9767697" y="6117336"/>
            <a:ext cx="1143297" cy="365124"/>
          </a:xfrm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377998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831643" y="6117336"/>
            <a:ext cx="4812583" cy="365124"/>
          </a:xfrm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13193445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1033759" y="6117336"/>
            <a:ext cx="548640" cy="3651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E920D66-E27F-21CA-BB0E-008D88CECFCF}" type="slidenum">
              <a:rPr lang="en-US"/>
              <a:t>1</a:t>
            </a:fld>
            <a:endParaRPr lang="en-US"/>
          </a:p>
        </p:txBody>
      </p:sp>
      <p:sp>
        <p:nvSpPr>
          <p:cNvPr id="124597832" name="Freeform 12"/>
          <p:cNvSpPr/>
          <p:nvPr/>
        </p:nvSpPr>
        <p:spPr bwMode="auto">
          <a:xfrm>
            <a:off x="270933" y="3771900"/>
            <a:ext cx="482599" cy="90487"/>
          </a:xfrm>
          <a:custGeom>
            <a:avLst/>
            <a:gdLst/>
            <a:ahLst/>
            <a:cxnLst/>
            <a:rect l="0" t="0" r="r" b="b"/>
            <a:pathLst>
              <a:path w="228" h="57" fill="norm" stroke="1" extrusionOk="0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</p:sp>
      <p:sp>
        <p:nvSpPr>
          <p:cNvPr id="149428257" name="Freeform 13"/>
          <p:cNvSpPr/>
          <p:nvPr/>
        </p:nvSpPr>
        <p:spPr bwMode="auto">
          <a:xfrm>
            <a:off x="747183" y="3867149"/>
            <a:ext cx="82550" cy="80962"/>
          </a:xfrm>
          <a:custGeom>
            <a:avLst/>
            <a:gdLst/>
            <a:ahLst/>
            <a:cxnLst/>
            <a:rect l="0" t="0" r="r" b="b"/>
            <a:pathLst>
              <a:path w="39" h="51" fill="norm" stroke="1" extrusionOk="0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825654" name="Title 1"/>
          <p:cNvSpPr>
            <a:spLocks noGrp="1"/>
          </p:cNvSpPr>
          <p:nvPr>
            <p:ph type="title"/>
          </p:nvPr>
        </p:nvSpPr>
        <p:spPr bwMode="auto">
          <a:xfrm>
            <a:off x="1309510" y="457200"/>
            <a:ext cx="10272889" cy="1981199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22532396" name="Content Placeholder 2"/>
          <p:cNvSpPr>
            <a:spLocks noGrp="1"/>
          </p:cNvSpPr>
          <p:nvPr>
            <p:ph idx="1"/>
          </p:nvPr>
        </p:nvSpPr>
        <p:spPr bwMode="auto">
          <a:xfrm>
            <a:off x="1309510" y="2666999"/>
            <a:ext cx="10272889" cy="3332815"/>
          </a:xfrm>
        </p:spPr>
        <p:txBody>
          <a:bodyPr anchor="ctr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9910798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9792438" y="6108172"/>
            <a:ext cx="1143297" cy="365124"/>
          </a:xfrm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9854912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630196" y="6108172"/>
            <a:ext cx="7086022" cy="365124"/>
          </a:xfrm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28768383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1011955" y="6108172"/>
            <a:ext cx="570443" cy="36512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666F8AFB-1CED-7A34-F288-9304B5B7233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8239318" name="Title 1"/>
          <p:cNvSpPr>
            <a:spLocks noGrp="1"/>
          </p:cNvSpPr>
          <p:nvPr>
            <p:ph type="title"/>
          </p:nvPr>
        </p:nvSpPr>
        <p:spPr bwMode="auto">
          <a:xfrm>
            <a:off x="2649326" y="2666997"/>
            <a:ext cx="8933073" cy="2360070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71766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649330" y="5027069"/>
            <a:ext cx="8933069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468171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9605320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232385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1031089" y="6116069"/>
            <a:ext cx="551310" cy="36512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426BAE77-5932-F7BE-6534-87DC866974F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513724" name="Title 1"/>
          <p:cNvSpPr>
            <a:spLocks noGrp="1"/>
          </p:cNvSpPr>
          <p:nvPr>
            <p:ph type="title"/>
          </p:nvPr>
        </p:nvSpPr>
        <p:spPr bwMode="auto">
          <a:xfrm>
            <a:off x="1309510" y="685800"/>
            <a:ext cx="10272889" cy="1752598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2021614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309510" y="2666999"/>
            <a:ext cx="4986527" cy="33686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6486174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95871" y="2666999"/>
            <a:ext cx="4986527" cy="334682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5984218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3725451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10847585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845E6EE0-F0CC-CA6D-09CF-CA3F9E706EF7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6066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32676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772641" y="2658532"/>
            <a:ext cx="4608387" cy="576261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829244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484697" y="3335335"/>
            <a:ext cx="4896330" cy="2665258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960293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82279" y="2666999"/>
            <a:ext cx="4623741" cy="576261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0409407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609687" y="3335335"/>
            <a:ext cx="4896330" cy="2665258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955134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49124987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85900064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323CB7CA-8BBA-D5BD-85BC-4B253E9063C1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4057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2854765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48914374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3620056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3B7BE6D6-8232-158A-574C-A276B2D32373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54817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73041406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08232457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EE4BB83-E072-B719-A471-8E4A88DEDAFB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743201" name="Title 1"/>
          <p:cNvSpPr>
            <a:spLocks noGrp="1"/>
          </p:cNvSpPr>
          <p:nvPr>
            <p:ph type="title"/>
          </p:nvPr>
        </p:nvSpPr>
        <p:spPr bwMode="auto">
          <a:xfrm>
            <a:off x="1484698" y="1600200"/>
            <a:ext cx="3550043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56058936" name="Content Placeholder 2"/>
          <p:cNvSpPr>
            <a:spLocks noGrp="1"/>
          </p:cNvSpPr>
          <p:nvPr>
            <p:ph idx="1"/>
          </p:nvPr>
        </p:nvSpPr>
        <p:spPr bwMode="auto">
          <a:xfrm>
            <a:off x="5263403" y="685800"/>
            <a:ext cx="6242616" cy="51054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543816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84698" y="2971800"/>
            <a:ext cx="3550043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3370273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46067970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3024917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6203B90D-D956-71C8-7B79-6EE51F733081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773648" name="Title 1"/>
          <p:cNvSpPr>
            <a:spLocks noGrp="1"/>
          </p:cNvSpPr>
          <p:nvPr>
            <p:ph type="title"/>
          </p:nvPr>
        </p:nvSpPr>
        <p:spPr bwMode="auto">
          <a:xfrm>
            <a:off x="1483109" y="1752598"/>
            <a:ext cx="5427571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268410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7596659" y="914400"/>
            <a:ext cx="3281827" cy="4572000"/>
          </a:xfrm>
          <a:prstGeom prst="roundRect">
            <a:avLst>
              <a:gd name="adj" fmla="val 4280"/>
            </a:avLst>
          </a:prstGeom>
          <a:ln w="38100">
            <a:gradFill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85779124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83109" y="3124198"/>
            <a:ext cx="542757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2359496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4347760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65958696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C96A400-C532-A3C3-E3FA-035194AA4CF9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anoramic 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709782" name="Title 1"/>
          <p:cNvSpPr>
            <a:spLocks noGrp="1"/>
          </p:cNvSpPr>
          <p:nvPr>
            <p:ph type="title"/>
          </p:nvPr>
        </p:nvSpPr>
        <p:spPr bwMode="auto">
          <a:xfrm>
            <a:off x="1484697" y="4732864"/>
            <a:ext cx="10021321" cy="5667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686536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2386633" y="932112"/>
            <a:ext cx="8228086" cy="3164976"/>
          </a:xfrm>
          <a:prstGeom prst="roundRect">
            <a:avLst>
              <a:gd name="adj" fmla="val 4380"/>
            </a:avLst>
          </a:prstGeom>
          <a:ln w="38100">
            <a:gradFill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31965184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84697" y="5299601"/>
            <a:ext cx="10021321" cy="49371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75308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4428423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85851206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AF301318-7850-4AF2-1343-4576EC26D152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948302" name="Title 1"/>
          <p:cNvSpPr>
            <a:spLocks noGrp="1"/>
          </p:cNvSpPr>
          <p:nvPr>
            <p:ph type="title"/>
          </p:nvPr>
        </p:nvSpPr>
        <p:spPr bwMode="auto">
          <a:xfrm>
            <a:off x="1484698" y="685800"/>
            <a:ext cx="10021321" cy="3047999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2085591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84698" y="4343400"/>
            <a:ext cx="10021322" cy="1447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902593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9999502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071172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9A8CACD8-9D38-1CBF-B406-4844E4082982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943801" name="TextBox 13"/>
          <p:cNvSpPr txBox="1"/>
          <p:nvPr/>
        </p:nvSpPr>
        <p:spPr bwMode="auto">
          <a:xfrm>
            <a:off x="1292561" y="863022"/>
            <a:ext cx="609758" cy="5847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887484968" name="TextBox 14"/>
          <p:cNvSpPr txBox="1"/>
          <p:nvPr/>
        </p:nvSpPr>
        <p:spPr bwMode="auto">
          <a:xfrm>
            <a:off x="10896262" y="2819398"/>
            <a:ext cx="609758" cy="5847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sp>
        <p:nvSpPr>
          <p:cNvPr id="481302754" name="Title 1"/>
          <p:cNvSpPr>
            <a:spLocks noGrp="1"/>
          </p:cNvSpPr>
          <p:nvPr>
            <p:ph type="title"/>
          </p:nvPr>
        </p:nvSpPr>
        <p:spPr bwMode="auto">
          <a:xfrm>
            <a:off x="1902321" y="685800"/>
            <a:ext cx="9298819" cy="274319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8991354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2130979" y="3428998"/>
            <a:ext cx="8841503" cy="380999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248607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84697" y="4343400"/>
            <a:ext cx="10021321" cy="1447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963670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903983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3002093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38033C1D-0030-F295-3E24-51A86BBCDAB2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05965" name="Title 1"/>
          <p:cNvSpPr>
            <a:spLocks noGrp="1"/>
          </p:cNvSpPr>
          <p:nvPr>
            <p:ph type="title"/>
          </p:nvPr>
        </p:nvSpPr>
        <p:spPr bwMode="auto">
          <a:xfrm>
            <a:off x="1484699" y="3308580"/>
            <a:ext cx="10021318" cy="1468799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19415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84698" y="4777380"/>
            <a:ext cx="1002132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098450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41404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8839539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4C6DF1F1-AAE0-07B7-B248-836D7DA5D614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326128" name="TextBox 13"/>
          <p:cNvSpPr txBox="1"/>
          <p:nvPr/>
        </p:nvSpPr>
        <p:spPr bwMode="auto">
          <a:xfrm>
            <a:off x="1292561" y="863022"/>
            <a:ext cx="609758" cy="5847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1067439696" name="TextBox 14"/>
          <p:cNvSpPr txBox="1"/>
          <p:nvPr/>
        </p:nvSpPr>
        <p:spPr bwMode="auto">
          <a:xfrm>
            <a:off x="10896262" y="2819398"/>
            <a:ext cx="609758" cy="5847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sp>
        <p:nvSpPr>
          <p:cNvPr id="971813121" name="Title 1"/>
          <p:cNvSpPr>
            <a:spLocks noGrp="1"/>
          </p:cNvSpPr>
          <p:nvPr>
            <p:ph type="title"/>
          </p:nvPr>
        </p:nvSpPr>
        <p:spPr bwMode="auto">
          <a:xfrm>
            <a:off x="1902321" y="685800"/>
            <a:ext cx="9298819" cy="274319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1542574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484699" y="3886200"/>
            <a:ext cx="10021320" cy="888999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244401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84698" y="4775199"/>
            <a:ext cx="10021320" cy="1015999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8919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1883812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9147023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3BDBE14-115C-68C4-9A76-54B8EED5FD30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ue or Fal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046292" name="Title 1"/>
          <p:cNvSpPr>
            <a:spLocks noGrp="1"/>
          </p:cNvSpPr>
          <p:nvPr>
            <p:ph type="title"/>
          </p:nvPr>
        </p:nvSpPr>
        <p:spPr bwMode="auto">
          <a:xfrm>
            <a:off x="1484699" y="685800"/>
            <a:ext cx="10021321" cy="272732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/>
            </a:lvl1pPr>
          </a:lstStyle>
          <a:p>
            <a:pPr marL="0"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3602089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484698" y="3505198"/>
            <a:ext cx="10021322" cy="83819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985804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84698" y="4343400"/>
            <a:ext cx="10021322" cy="144779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22280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1117403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05290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55A68B6-B082-65F4-7490-4FCEECA4A43E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0866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452638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43210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0813194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8380872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C24704FB-FF5F-C250-EE27-74631B82A29D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60407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735190" y="685800"/>
            <a:ext cx="1770829" cy="5105399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1148977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484698" y="685800"/>
            <a:ext cx="8021830" cy="5105399"/>
          </a:xfrm>
        </p:spPr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50461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4926201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532665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397F9F81-9D96-56B4-6EC1-368D9D11FD1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76573004" name="Group 13"/>
          <p:cNvGrpSpPr/>
          <p:nvPr/>
        </p:nvGrpSpPr>
        <p:grpSpPr bwMode="auto">
          <a:xfrm>
            <a:off x="0" y="0"/>
            <a:ext cx="2842683" cy="6858000"/>
            <a:chOff x="0" y="0"/>
            <a:chExt cx="2842683" cy="6858000"/>
          </a:xfrm>
        </p:grpSpPr>
        <p:sp>
          <p:nvSpPr>
            <p:cNvPr id="1100442671" name="Freeform 6"/>
            <p:cNvSpPr/>
            <p:nvPr/>
          </p:nvSpPr>
          <p:spPr bwMode="auto">
            <a:xfrm>
              <a:off x="0" y="0"/>
              <a:ext cx="1430866" cy="5291137"/>
            </a:xfrm>
            <a:custGeom>
              <a:avLst/>
              <a:gdLst/>
              <a:ahLst/>
              <a:cxnLst/>
              <a:rect l="0" t="0" r="r" b="b"/>
              <a:pathLst>
                <a:path w="676" h="3333" fill="norm" stroke="1" extrusionOk="0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88784155" name="Freeform 7"/>
            <p:cNvSpPr/>
            <p:nvPr/>
          </p:nvSpPr>
          <p:spPr bwMode="auto">
            <a:xfrm>
              <a:off x="0" y="0"/>
              <a:ext cx="1011766" cy="4624387"/>
            </a:xfrm>
            <a:custGeom>
              <a:avLst/>
              <a:gdLst/>
              <a:ahLst/>
              <a:cxnLst/>
              <a:rect l="0" t="0" r="r" b="b"/>
              <a:pathLst>
                <a:path w="478" h="2913" fill="norm" stroke="1" extrusionOk="0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063909110" name="Freeform 8"/>
            <p:cNvSpPr/>
            <p:nvPr/>
          </p:nvSpPr>
          <p:spPr bwMode="auto">
            <a:xfrm>
              <a:off x="0" y="5662612"/>
              <a:ext cx="1208617" cy="1195387"/>
            </a:xfrm>
            <a:custGeom>
              <a:avLst/>
              <a:gdLst/>
              <a:ahLst/>
              <a:cxnLst/>
              <a:rect l="0" t="0" r="r" b="b"/>
              <a:pathLst>
                <a:path w="571" h="753" fill="norm" stroke="1" extrusionOk="0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629616738" name="Freeform 9"/>
            <p:cNvSpPr/>
            <p:nvPr/>
          </p:nvSpPr>
          <p:spPr bwMode="auto">
            <a:xfrm>
              <a:off x="0" y="5295898"/>
              <a:ext cx="1983317" cy="1562099"/>
            </a:xfrm>
            <a:custGeom>
              <a:avLst/>
              <a:gdLst/>
              <a:ahLst/>
              <a:cxnLst/>
              <a:rect l="0" t="0" r="r" b="b"/>
              <a:pathLst>
                <a:path w="937" h="984" fill="norm" stroke="1" extrusionOk="0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889956254" name="Freeform 10"/>
            <p:cNvSpPr/>
            <p:nvPr/>
          </p:nvSpPr>
          <p:spPr bwMode="auto">
            <a:xfrm>
              <a:off x="0" y="5257800"/>
              <a:ext cx="284268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 fill="norm" stroke="1" extrusionOk="0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8390123" name="Freeform 11"/>
            <p:cNvSpPr/>
            <p:nvPr/>
          </p:nvSpPr>
          <p:spPr bwMode="auto">
            <a:xfrm>
              <a:off x="0" y="5357812"/>
              <a:ext cx="1837266" cy="1500187"/>
            </a:xfrm>
            <a:custGeom>
              <a:avLst/>
              <a:gdLst/>
              <a:ahLst/>
              <a:cxnLst/>
              <a:rect l="0" t="0" r="r" b="b"/>
              <a:pathLst>
                <a:path w="868" h="945" fill="norm" stroke="1" extrusionOk="0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749501533" name="Title Placeholder 1"/>
          <p:cNvSpPr>
            <a:spLocks noGrp="1"/>
          </p:cNvSpPr>
          <p:nvPr>
            <p:ph type="title"/>
          </p:nvPr>
        </p:nvSpPr>
        <p:spPr bwMode="auto">
          <a:xfrm>
            <a:off x="1309510" y="457200"/>
            <a:ext cx="10272889" cy="19811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68586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09511" y="2666999"/>
            <a:ext cx="10272888" cy="33569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9788983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9811571" y="6116069"/>
            <a:ext cx="1143297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210204953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2649329" y="6116069"/>
            <a:ext cx="7086022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46526964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031089" y="6116069"/>
            <a:ext cx="55131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52CCB1CA-96C2-A26C-8766-5A3BFCC1F488}" type="slidenum">
              <a:rPr lang="en-US"/>
              <a:t>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1"/>
  <p:txStyles>
    <p:titleStyle>
      <a:lvl1pPr algn="ctr" defTabSz="457200" rtl="0">
        <a:spcBef>
          <a:spcPts val="0"/>
        </a:spcBef>
        <a:buNone/>
        <a:defRPr sz="4000" cap="none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285750" indent="-28575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cap="none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cap="none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cap="none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cap="none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i.org/10.1109/JBHI.2020.3046771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ieeexplore.ieee.org/document/9091167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i.org/10.1109/ACCESS.2021.3101142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i.org/10.1109/ACCESS.2022.3157632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i.org/10.1109/ACCESS.2023.3326528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5469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sz="2800" b="1"/>
              <a:t>Literature Survey [1]</a:t>
            </a:r>
            <a:endParaRPr/>
          </a:p>
        </p:txBody>
      </p:sp>
      <p:sp>
        <p:nvSpPr>
          <p:cNvPr id="1680509435" name="Content Placeholder 2"/>
          <p:cNvSpPr>
            <a:spLocks noGrp="1"/>
          </p:cNvSpPr>
          <p:nvPr>
            <p:ph idx="1"/>
          </p:nvPr>
        </p:nvSpPr>
        <p:spPr bwMode="auto">
          <a:xfrm>
            <a:off x="1466666" y="1849999"/>
            <a:ext cx="8666666" cy="45000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spcAft>
                <a:spcPts val="99"/>
              </a:spcAft>
              <a:buNone/>
              <a:defRPr/>
            </a:pPr>
            <a:r>
              <a:rPr sz="2000" b="1">
                <a:solidFill>
                  <a:srgbClr val="1F5F99"/>
                </a:solidFill>
                <a:latin typeface="Times New Roman"/>
              </a:rPr>
              <a:t>DeepUWF: An Automated Ultra-Wide-Field Fundus Screening System via Deep Learning</a:t>
            </a:r>
            <a:endParaRPr sz="4800"/>
          </a:p>
          <a:p>
            <a:pPr>
              <a:spcAft>
                <a:spcPts val="499"/>
              </a:spcAft>
              <a:buNone/>
              <a:defRPr/>
            </a:pPr>
            <a:r>
              <a:rPr sz="1600">
                <a:solidFill>
                  <a:srgbClr val="7F7F7F"/>
                </a:solidFill>
                <a:latin typeface="Times New Roman"/>
              </a:rPr>
              <a:t>W. Zhang, X. Zhao, Y. Chen, J. Zhong, Z. Yi – IEEE Journal of Biomedical and Health Informatics, 2021</a:t>
            </a:r>
            <a:endParaRPr sz="4800"/>
          </a:p>
          <a:p>
            <a:pPr>
              <a:spcAft>
                <a:spcPts val="299"/>
              </a:spcAft>
              <a:defRPr/>
            </a:pPr>
            <a:r>
              <a:rPr sz="1800" b="1"/>
              <a:t>Methodology used: </a:t>
            </a:r>
            <a:r>
              <a:rPr sz="1800"/>
              <a:t>Two-part system: an abnormal-fundus screening subsystem and a disease diagnosis subsystem (retinal tear/detachment, diabetic retinopathy, pathological myopia), built with deep learning.</a:t>
            </a:r>
            <a:endParaRPr sz="4800"/>
          </a:p>
          <a:p>
            <a:pPr>
              <a:spcAft>
                <a:spcPts val="299"/>
              </a:spcAft>
              <a:defRPr/>
            </a:pPr>
            <a:r>
              <a:rPr sz="1800" b="1"/>
              <a:t>Dataset(s) used: </a:t>
            </a:r>
            <a:r>
              <a:rPr sz="1800"/>
              <a:t>2,644 ultra-widefield (UWF) fundus images.</a:t>
            </a:r>
            <a:endParaRPr sz="4800"/>
          </a:p>
          <a:p>
            <a:pPr>
              <a:spcAft>
                <a:spcPts val="299"/>
              </a:spcAft>
              <a:defRPr/>
            </a:pPr>
            <a:r>
              <a:rPr sz="1800" b="1"/>
              <a:t>Advantages: </a:t>
            </a:r>
            <a:r>
              <a:rPr sz="1800"/>
              <a:t>Works directly on UWF images; screen-then-diagnose pipeline can support fundus screening without an ophthalmologist.</a:t>
            </a:r>
            <a:endParaRPr sz="4800"/>
          </a:p>
          <a:p>
            <a:pPr>
              <a:spcAft>
                <a:spcPts val="299"/>
              </a:spcAft>
              <a:defRPr/>
            </a:pPr>
            <a:r>
              <a:rPr sz="1800" b="1"/>
              <a:t>Limitations: </a:t>
            </a:r>
            <a:r>
              <a:rPr sz="1800"/>
              <a:t>Small dataset; DR is only one of three target diseases and DME is not addressed.</a:t>
            </a:r>
            <a:endParaRPr sz="4800"/>
          </a:p>
          <a:p>
            <a:pPr>
              <a:spcAft>
                <a:spcPts val="299"/>
              </a:spcAft>
              <a:defRPr/>
            </a:pPr>
            <a:r>
              <a:rPr sz="1800" b="1"/>
              <a:t>Results obtained: </a:t>
            </a:r>
            <a:r>
              <a:rPr sz="1800"/>
              <a:t>Reported as a promising tool for fundus health screening and workflow improvement (metrics in full paper).</a:t>
            </a:r>
            <a:endParaRPr sz="4800"/>
          </a:p>
          <a:p>
            <a:pPr>
              <a:defRPr/>
            </a:pPr>
            <a:r>
              <a:rPr sz="1800" b="1"/>
              <a:t>Download: </a:t>
            </a:r>
            <a:r>
              <a:rPr sz="1800" u="sng">
                <a:hlinkClick r:id="rId3" tooltip=""/>
              </a:rPr>
              <a:t>doi.org/10.1109/JBHI.2020.3046771 (IEEE Xplore; may need institutional access)</a:t>
            </a:r>
            <a:endParaRPr/>
          </a:p>
        </p:txBody>
      </p:sp>
      <p:sp>
        <p:nvSpPr>
          <p:cNvPr id="1284693033" name="Google Shape;181;p17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68BAC1D9-4D20-91D1-5435-0B170A016B1C}" type="slidenum">
              <a:rPr lang="en-US">
                <a:solidFill>
                  <a:srgbClr val="000000"/>
                </a:solidFill>
              </a:rPr>
              <a:t>5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705299696" name="Picture 181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163433" y="476674"/>
            <a:ext cx="1135966" cy="622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4555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sz="2800" b="1"/>
              <a:t>Literature Survey [2]</a:t>
            </a:r>
            <a:endParaRPr/>
          </a:p>
        </p:txBody>
      </p:sp>
      <p:sp>
        <p:nvSpPr>
          <p:cNvPr id="894524889" name="Content Placeholder 2"/>
          <p:cNvSpPr>
            <a:spLocks noGrp="1"/>
          </p:cNvSpPr>
          <p:nvPr>
            <p:ph idx="1"/>
          </p:nvPr>
        </p:nvSpPr>
        <p:spPr bwMode="auto">
          <a:xfrm>
            <a:off x="1466666" y="1849999"/>
            <a:ext cx="8666666" cy="4500000"/>
          </a:xfrm>
        </p:spPr>
        <p:txBody>
          <a:bodyPr anchor="t"/>
          <a:lstStyle/>
          <a:p>
            <a:pPr>
              <a:spcAft>
                <a:spcPts val="99"/>
              </a:spcAft>
              <a:buNone/>
              <a:defRPr/>
            </a:pPr>
            <a:r>
              <a:rPr sz="1800" b="1">
                <a:solidFill>
                  <a:srgbClr val="1F5F99"/>
                </a:solidFill>
                <a:latin typeface="Times New Roman"/>
              </a:rPr>
              <a:t>Diabetic Retinopathy Detection Using Prognosis of Microaneurysm and Early Diagnosis System for NPDR Based on Deep Learning</a:t>
            </a:r>
            <a:endParaRPr sz="3600"/>
          </a:p>
          <a:p>
            <a:pPr>
              <a:spcAft>
                <a:spcPts val="499"/>
              </a:spcAft>
              <a:buNone/>
              <a:defRPr/>
            </a:pPr>
            <a:r>
              <a:rPr sz="1400">
                <a:solidFill>
                  <a:srgbClr val="7F7F7F"/>
                </a:solidFill>
                <a:latin typeface="Times New Roman"/>
              </a:rPr>
              <a:t>IEEE Access, vol. 8, pp. 104292–104302, 2020 (open access)</a:t>
            </a:r>
            <a:endParaRPr sz="3600"/>
          </a:p>
          <a:p>
            <a:pPr>
              <a:spcAft>
                <a:spcPts val="299"/>
              </a:spcAft>
              <a:defRPr/>
            </a:pPr>
            <a:r>
              <a:rPr sz="1600" b="1"/>
              <a:t>Methodology used: </a:t>
            </a:r>
            <a:r>
              <a:rPr sz="1600"/>
              <a:t>GPU-accelerated CNN with semantic segmentation to find microaneurysms, classify fundus images as normal/infected and grade early, moderate and severe NPDR.</a:t>
            </a:r>
            <a:endParaRPr sz="3600"/>
          </a:p>
          <a:p>
            <a:pPr>
              <a:spcAft>
                <a:spcPts val="299"/>
              </a:spcAft>
              <a:defRPr/>
            </a:pPr>
            <a:r>
              <a:rPr sz="1600" b="1"/>
              <a:t>Dataset(s) used: </a:t>
            </a:r>
            <a:r>
              <a:rPr sz="1600"/>
              <a:t>Colour fundus images (details in the full paper).</a:t>
            </a:r>
            <a:endParaRPr sz="3600"/>
          </a:p>
          <a:p>
            <a:pPr>
              <a:spcAft>
                <a:spcPts val="299"/>
              </a:spcAft>
              <a:defRPr/>
            </a:pPr>
            <a:r>
              <a:rPr sz="1600" b="1"/>
              <a:t>Advantages: </a:t>
            </a:r>
            <a:r>
              <a:rPr sz="1600"/>
              <a:t>Targets the earliest DR sign (microaneurysms); high-performance, low-latency inference.</a:t>
            </a:r>
            <a:endParaRPr sz="3600"/>
          </a:p>
          <a:p>
            <a:pPr>
              <a:spcAft>
                <a:spcPts val="299"/>
              </a:spcAft>
              <a:defRPr/>
            </a:pPr>
            <a:r>
              <a:rPr sz="1600" b="1"/>
              <a:t>Limitations: </a:t>
            </a:r>
            <a:r>
              <a:rPr sz="1600"/>
              <a:t>Focused on NPDR grading; no UWF images, DME detection or image-quality assessment.</a:t>
            </a:r>
            <a:endParaRPr sz="3600"/>
          </a:p>
          <a:p>
            <a:pPr>
              <a:spcAft>
                <a:spcPts val="299"/>
              </a:spcAft>
              <a:defRPr/>
            </a:pPr>
            <a:r>
              <a:rPr sz="1600" b="1"/>
              <a:t>Results obtained: </a:t>
            </a:r>
            <a:r>
              <a:rPr sz="1600"/>
              <a:t>Shown to improve efficiency and accuracy of NPDR prediction (see paper for figures).</a:t>
            </a:r>
            <a:endParaRPr sz="3600"/>
          </a:p>
          <a:p>
            <a:pPr>
              <a:defRPr/>
            </a:pPr>
            <a:r>
              <a:rPr sz="1600" b="1"/>
              <a:t>Download: </a:t>
            </a:r>
            <a:r>
              <a:rPr sz="1600" u="sng">
                <a:hlinkClick r:id="rId3" tooltip=""/>
              </a:rPr>
              <a:t>ieeexplore.ieee.org/document/9091167</a:t>
            </a:r>
            <a:endParaRPr sz="3600"/>
          </a:p>
        </p:txBody>
      </p:sp>
      <p:sp>
        <p:nvSpPr>
          <p:cNvPr id="1371991570" name="Google Shape;181;p17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236EBEDC-3C5F-B7E2-D0B4-9E7F11BD687B}" type="slidenum">
              <a:rPr lang="en-US">
                <a:solidFill>
                  <a:srgbClr val="000000"/>
                </a:solidFill>
              </a:rPr>
              <a:t>6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555866836" name="Picture 181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163433" y="476674"/>
            <a:ext cx="1135966" cy="622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2071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sz="2800" b="1"/>
              <a:t>Literature Survey [3]</a:t>
            </a:r>
            <a:endParaRPr/>
          </a:p>
        </p:txBody>
      </p:sp>
      <p:sp>
        <p:nvSpPr>
          <p:cNvPr id="183410995" name="Content Placeholder 2"/>
          <p:cNvSpPr>
            <a:spLocks noGrp="1"/>
          </p:cNvSpPr>
          <p:nvPr>
            <p:ph idx="1"/>
          </p:nvPr>
        </p:nvSpPr>
        <p:spPr bwMode="auto">
          <a:xfrm>
            <a:off x="1466666" y="1849999"/>
            <a:ext cx="8666666" cy="4500000"/>
          </a:xfrm>
        </p:spPr>
        <p:txBody>
          <a:bodyPr anchor="t"/>
          <a:lstStyle/>
          <a:p>
            <a:pPr>
              <a:spcAft>
                <a:spcPts val="99"/>
              </a:spcAft>
              <a:buNone/>
              <a:defRPr/>
            </a:pPr>
            <a:r>
              <a:rPr sz="1800" b="1">
                <a:solidFill>
                  <a:srgbClr val="1F5F99"/>
                </a:solidFill>
                <a:latin typeface="Times New Roman"/>
              </a:rPr>
              <a:t>Diabetic Retinopathy Diagnosis From Fundus Images Using Stacked Generalization of Deep Models</a:t>
            </a:r>
            <a:endParaRPr sz="3600"/>
          </a:p>
          <a:p>
            <a:pPr>
              <a:spcAft>
                <a:spcPts val="499"/>
              </a:spcAft>
              <a:buNone/>
              <a:defRPr/>
            </a:pPr>
            <a:r>
              <a:rPr sz="1400">
                <a:solidFill>
                  <a:srgbClr val="7F7F7F"/>
                </a:solidFill>
                <a:latin typeface="Times New Roman"/>
              </a:rPr>
              <a:t>H. Kaushik et al. – IEEE Access, vol. 9, pp. 108276–108292, 2021 (open access)</a:t>
            </a:r>
            <a:endParaRPr sz="3600"/>
          </a:p>
          <a:p>
            <a:pPr>
              <a:spcAft>
                <a:spcPts val="299"/>
              </a:spcAft>
              <a:defRPr/>
            </a:pPr>
            <a:r>
              <a:rPr sz="1600" b="1"/>
              <a:t>Methodology used: </a:t>
            </a:r>
            <a:r>
              <a:rPr sz="1600"/>
              <a:t>Gray-world colour-constancy normalization (checked with PSNR/MSE) followed by stacked generalization of three custom CNNs with a meta-learner.</a:t>
            </a:r>
            <a:endParaRPr sz="3600"/>
          </a:p>
          <a:p>
            <a:pPr>
              <a:spcAft>
                <a:spcPts val="299"/>
              </a:spcAft>
              <a:defRPr/>
            </a:pPr>
            <a:r>
              <a:rPr sz="1600" b="1"/>
              <a:t>Dataset(s) used: </a:t>
            </a:r>
            <a:r>
              <a:rPr sz="1600"/>
              <a:t>Colour fundus images (details in the full paper).</a:t>
            </a:r>
            <a:endParaRPr sz="3600"/>
          </a:p>
          <a:p>
            <a:pPr>
              <a:spcAft>
                <a:spcPts val="299"/>
              </a:spcAft>
              <a:defRPr/>
            </a:pPr>
            <a:r>
              <a:rPr sz="1600" b="1"/>
              <a:t>Advantages: </a:t>
            </a:r>
            <a:r>
              <a:rPr sz="1600"/>
              <a:t>Illumination normalization plus ensembling improves results; closely related to our colour normalization and ensemble strategy.</a:t>
            </a:r>
            <a:endParaRPr sz="3600"/>
          </a:p>
          <a:p>
            <a:pPr>
              <a:spcAft>
                <a:spcPts val="299"/>
              </a:spcAft>
              <a:defRPr/>
            </a:pPr>
            <a:r>
              <a:rPr sz="1600" b="1"/>
              <a:t>Limitations: </a:t>
            </a:r>
            <a:r>
              <a:rPr sz="1600"/>
              <a:t>Conventional fundus photographs, not UWF; accuracy drops for multi-class grading.</a:t>
            </a:r>
            <a:endParaRPr sz="3600"/>
          </a:p>
          <a:p>
            <a:pPr>
              <a:spcAft>
                <a:spcPts val="299"/>
              </a:spcAft>
              <a:defRPr/>
            </a:pPr>
            <a:r>
              <a:rPr sz="1600" b="1"/>
              <a:t>Results obtained: </a:t>
            </a:r>
            <a:r>
              <a:rPr sz="1600"/>
              <a:t>Test accuracy 97.92% (binary) and 87.45% (multi-class).</a:t>
            </a:r>
            <a:endParaRPr sz="3600"/>
          </a:p>
          <a:p>
            <a:pPr>
              <a:defRPr/>
            </a:pPr>
            <a:r>
              <a:rPr sz="1600" b="1"/>
              <a:t>Download: </a:t>
            </a:r>
            <a:r>
              <a:rPr sz="1600" u="sng">
                <a:hlinkClick r:id="rId3" tooltip=""/>
              </a:rPr>
              <a:t>doi.org/10.1109/ACCESS.2021.3101142</a:t>
            </a:r>
            <a:endParaRPr sz="3600"/>
          </a:p>
        </p:txBody>
      </p:sp>
      <p:sp>
        <p:nvSpPr>
          <p:cNvPr id="186408488" name="Google Shape;181;p17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902DCDC-7264-0003-4E88-9D5676851534}" type="slidenum">
              <a:rPr lang="en-US">
                <a:solidFill>
                  <a:srgbClr val="000000"/>
                </a:solidFill>
              </a:rPr>
              <a:t>7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494027471" name="Picture 181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163433" y="476674"/>
            <a:ext cx="1135966" cy="622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3536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sz="2800" b="1"/>
              <a:t>Literature Survey [4]</a:t>
            </a:r>
            <a:endParaRPr/>
          </a:p>
        </p:txBody>
      </p:sp>
      <p:sp>
        <p:nvSpPr>
          <p:cNvPr id="1054163893" name="Content Placeholder 2"/>
          <p:cNvSpPr>
            <a:spLocks noGrp="1"/>
          </p:cNvSpPr>
          <p:nvPr>
            <p:ph idx="1"/>
          </p:nvPr>
        </p:nvSpPr>
        <p:spPr bwMode="auto">
          <a:xfrm>
            <a:off x="1466666" y="1849999"/>
            <a:ext cx="8666666" cy="4500000"/>
          </a:xfrm>
        </p:spPr>
        <p:txBody>
          <a:bodyPr anchor="t"/>
          <a:lstStyle/>
          <a:p>
            <a:pPr>
              <a:spcAft>
                <a:spcPts val="99"/>
              </a:spcAft>
              <a:buNone/>
              <a:defRPr/>
            </a:pPr>
            <a:r>
              <a:rPr sz="1800" b="1">
                <a:solidFill>
                  <a:srgbClr val="1F5F99"/>
                </a:solidFill>
                <a:latin typeface="Times New Roman"/>
              </a:rPr>
              <a:t>Deep Learning Techniques for Diabetic Retinopathy Classification: A Survey</a:t>
            </a:r>
            <a:endParaRPr sz="3600"/>
          </a:p>
          <a:p>
            <a:pPr>
              <a:spcAft>
                <a:spcPts val="499"/>
              </a:spcAft>
              <a:buNone/>
              <a:defRPr/>
            </a:pPr>
            <a:r>
              <a:rPr sz="1400">
                <a:solidFill>
                  <a:srgbClr val="7F7F7F"/>
                </a:solidFill>
                <a:latin typeface="Times New Roman"/>
              </a:rPr>
              <a:t>M. Z. Atwany, A. H. Sahyoun, M. Yaqub – IEEE Access, vol. 10, pp. 28642–28655, 2022 (open access)</a:t>
            </a:r>
            <a:endParaRPr sz="3600"/>
          </a:p>
          <a:p>
            <a:pPr>
              <a:spcAft>
                <a:spcPts val="299"/>
              </a:spcAft>
              <a:defRPr/>
            </a:pPr>
            <a:r>
              <a:rPr sz="1600" b="1"/>
              <a:t>Methodology used: </a:t>
            </a:r>
            <a:r>
              <a:rPr sz="1600"/>
              <a:t>Review of supervised, self-supervised and Vision Transformer methods for retinal fundus classification and detection (referable, non-referable, proliferative DR).</a:t>
            </a:r>
            <a:endParaRPr sz="3600"/>
          </a:p>
          <a:p>
            <a:pPr>
              <a:spcAft>
                <a:spcPts val="299"/>
              </a:spcAft>
              <a:defRPr/>
            </a:pPr>
            <a:r>
              <a:rPr sz="1600" b="1"/>
              <a:t>Dataset(s) used: </a:t>
            </a:r>
            <a:r>
              <a:rPr sz="1600"/>
              <a:t>Surveys public retinal fundus datasets for detection, classification and segmentation.</a:t>
            </a:r>
            <a:endParaRPr sz="3600"/>
          </a:p>
          <a:p>
            <a:pPr>
              <a:spcAft>
                <a:spcPts val="299"/>
              </a:spcAft>
              <a:defRPr/>
            </a:pPr>
            <a:r>
              <a:rPr sz="1600" b="1"/>
              <a:t>Advantages: </a:t>
            </a:r>
            <a:r>
              <a:rPr sz="1600"/>
              <a:t>Single reference for DR datasets, referable-DR classification and learning paradigms.</a:t>
            </a:r>
            <a:endParaRPr sz="3600"/>
          </a:p>
          <a:p>
            <a:pPr>
              <a:spcAft>
                <a:spcPts val="299"/>
              </a:spcAft>
              <a:defRPr/>
            </a:pPr>
            <a:r>
              <a:rPr sz="1600" b="1"/>
              <a:t>Limitations: </a:t>
            </a:r>
            <a:r>
              <a:rPr sz="1600"/>
              <a:t>Review only; no new model; centred on conventional fundus images.</a:t>
            </a:r>
            <a:endParaRPr sz="3600"/>
          </a:p>
          <a:p>
            <a:pPr>
              <a:spcAft>
                <a:spcPts val="299"/>
              </a:spcAft>
              <a:defRPr/>
            </a:pPr>
            <a:r>
              <a:rPr sz="1600" b="1"/>
              <a:t>Results obtained: </a:t>
            </a:r>
            <a:r>
              <a:rPr sz="1600"/>
              <a:t>Identifies research gaps and open challenges in DR detection/classification.</a:t>
            </a:r>
            <a:endParaRPr sz="3600"/>
          </a:p>
          <a:p>
            <a:pPr>
              <a:defRPr/>
            </a:pPr>
            <a:r>
              <a:rPr sz="1600" b="1"/>
              <a:t>Download: </a:t>
            </a:r>
            <a:r>
              <a:rPr sz="1600" u="sng">
                <a:hlinkClick r:id="rId3" tooltip=""/>
              </a:rPr>
              <a:t>doi.org/10.1109/ACCESS.2022.3157632</a:t>
            </a:r>
            <a:endParaRPr sz="3600"/>
          </a:p>
        </p:txBody>
      </p:sp>
      <p:sp>
        <p:nvSpPr>
          <p:cNvPr id="615669926" name="Google Shape;181;p17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98B620E-7C67-D41F-321E-DE275E6C7F7E}" type="slidenum">
              <a:rPr lang="en-US">
                <a:solidFill>
                  <a:srgbClr val="000000"/>
                </a:solidFill>
              </a:rPr>
              <a:t>8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485898412" name="Picture 181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163433" y="476674"/>
            <a:ext cx="1135966" cy="622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78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sz="2800" b="1"/>
              <a:t>Literature Survey [5]</a:t>
            </a:r>
            <a:endParaRPr/>
          </a:p>
        </p:txBody>
      </p:sp>
      <p:sp>
        <p:nvSpPr>
          <p:cNvPr id="1608843372" name="Content Placeholder 2"/>
          <p:cNvSpPr>
            <a:spLocks noGrp="1"/>
          </p:cNvSpPr>
          <p:nvPr>
            <p:ph idx="1"/>
          </p:nvPr>
        </p:nvSpPr>
        <p:spPr bwMode="auto">
          <a:xfrm>
            <a:off x="1466666" y="1849999"/>
            <a:ext cx="8666666" cy="4500000"/>
          </a:xfrm>
        </p:spPr>
        <p:txBody>
          <a:bodyPr anchor="t"/>
          <a:lstStyle/>
          <a:p>
            <a:pPr>
              <a:spcAft>
                <a:spcPts val="99"/>
              </a:spcAft>
              <a:buNone/>
              <a:defRPr/>
            </a:pPr>
            <a:r>
              <a:rPr sz="1800" b="1">
                <a:solidFill>
                  <a:srgbClr val="1F5F99"/>
                </a:solidFill>
                <a:latin typeface="Times New Roman"/>
              </a:rPr>
              <a:t>Vision Transformer Model for Predicting the Severity of Diabetic Retinopathy in Fundus Photography-Based Retina Images</a:t>
            </a:r>
            <a:endParaRPr sz="3600"/>
          </a:p>
          <a:p>
            <a:pPr>
              <a:spcAft>
                <a:spcPts val="499"/>
              </a:spcAft>
              <a:buNone/>
              <a:defRPr/>
            </a:pPr>
            <a:r>
              <a:rPr sz="1400">
                <a:solidFill>
                  <a:srgbClr val="7F7F7F"/>
                </a:solidFill>
                <a:latin typeface="Times New Roman"/>
              </a:rPr>
              <a:t>W. Nazih, A. O. Aseeri, O. Y. Atallah, S. El-Sappagh – IEEE Access, vol. 11, pp. 117546–117561, 2023 (open access)</a:t>
            </a:r>
            <a:endParaRPr sz="3600"/>
          </a:p>
          <a:p>
            <a:pPr>
              <a:spcAft>
                <a:spcPts val="299"/>
              </a:spcAft>
              <a:defRPr/>
            </a:pPr>
            <a:r>
              <a:rPr sz="1600" b="1"/>
              <a:t>Methodology used: </a:t>
            </a:r>
            <a:r>
              <a:rPr sz="1600"/>
              <a:t>ViT pipeline optimized with AdamW; handles class imbalance via F1-based tuning, augmentation, class weights, label smoothing and focal loss; compared with ResNet50, InceptionV3, VGG19.</a:t>
            </a:r>
            <a:endParaRPr sz="3600"/>
          </a:p>
          <a:p>
            <a:pPr>
              <a:spcAft>
                <a:spcPts val="299"/>
              </a:spcAft>
              <a:defRPr/>
            </a:pPr>
            <a:r>
              <a:rPr sz="1600" b="1"/>
              <a:t>Dataset(s) used: </a:t>
            </a:r>
            <a:r>
              <a:rPr sz="1600"/>
              <a:t>FGADR (fine-grained annotated diabetic retinopathy) fundus dataset.</a:t>
            </a:r>
            <a:endParaRPr sz="3600"/>
          </a:p>
          <a:p>
            <a:pPr>
              <a:spcAft>
                <a:spcPts val="299"/>
              </a:spcAft>
              <a:defRPr/>
            </a:pPr>
            <a:r>
              <a:rPr sz="1600" b="1"/>
              <a:t>Advantages: </a:t>
            </a:r>
            <a:r>
              <a:rPr sz="1600"/>
              <a:t>Captures global context; beats the CNN baselines and baseline ViT models.</a:t>
            </a:r>
            <a:endParaRPr sz="3600"/>
          </a:p>
          <a:p>
            <a:pPr>
              <a:spcAft>
                <a:spcPts val="299"/>
              </a:spcAft>
              <a:defRPr/>
            </a:pPr>
            <a:r>
              <a:rPr sz="1600" b="1"/>
              <a:t>Limitations: </a:t>
            </a:r>
            <a:r>
              <a:rPr sz="1600"/>
              <a:t>Single dataset; ViTs need large data; fundus (non-UWF) images.</a:t>
            </a:r>
            <a:endParaRPr sz="3600"/>
          </a:p>
          <a:p>
            <a:pPr>
              <a:spcAft>
                <a:spcPts val="299"/>
              </a:spcAft>
              <a:defRPr/>
            </a:pPr>
            <a:r>
              <a:rPr sz="1600" b="1"/>
              <a:t>Results obtained: </a:t>
            </a:r>
            <a:r>
              <a:rPr sz="1600"/>
              <a:t>F1 0.825, accuracy 0.825, AUC 0.964, specificity 0.956.</a:t>
            </a:r>
            <a:endParaRPr sz="3600"/>
          </a:p>
          <a:p>
            <a:pPr>
              <a:defRPr/>
            </a:pPr>
            <a:r>
              <a:rPr sz="1600" b="1"/>
              <a:t>Download: </a:t>
            </a:r>
            <a:r>
              <a:rPr sz="1600" u="sng">
                <a:hlinkClick r:id="rId3" tooltip=""/>
              </a:rPr>
              <a:t>doi.org/10.1109/ACCESS.2023.3326528</a:t>
            </a:r>
            <a:endParaRPr sz="3600"/>
          </a:p>
        </p:txBody>
      </p:sp>
      <p:sp>
        <p:nvSpPr>
          <p:cNvPr id="1807286622" name="Google Shape;181;p17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59CEF23A-174B-A39C-957D-8AAAEC189DE0}" type="slidenum">
              <a:rPr lang="en-US">
                <a:solidFill>
                  <a:srgbClr val="000000"/>
                </a:solidFill>
              </a:rPr>
              <a:t>9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227299360" name="Picture 181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163433" y="476674"/>
            <a:ext cx="1135966" cy="622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">
      <a:majorFont>
        <a:latin typeface="Corbel"/>
        <a:ea typeface="Arial"/>
        <a:cs typeface="Arial"/>
      </a:majorFont>
      <a:minorFont>
        <a:latin typeface="Corbel"/>
        <a:ea typeface="Arial"/>
        <a:cs typeface="Arial"/>
      </a:minorFont>
    </a:fontScheme>
    <a:fmtScheme name="Parallax"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/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2026-10-28T14:07:39Z</dcterms:modified>
</cp:coreProperties>
</file>