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79242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70816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76516935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804047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00947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898534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958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7544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403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BF736E-39FF-40BD-B54A-3BDBE349A8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132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69562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486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87D6B4-E3A7-061E-65A6-252B8CED9D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738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1101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863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E574E9-C70B-48E5-1C36-64C7B14FD2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377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8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31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77BAF7-A64E-3785-6C39-71AE86A80D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96955305" name="Group 24"/>
          <p:cNvGrpSpPr/>
          <p:nvPr/>
        </p:nvGrpSpPr>
        <p:grpSpPr bwMode="auto">
          <a:xfrm>
            <a:off x="270933" y="0"/>
            <a:ext cx="5037666" cy="6858000"/>
            <a:chOff x="270933" y="0"/>
            <a:chExt cx="5037666" cy="6858000"/>
          </a:xfrm>
        </p:grpSpPr>
        <p:sp>
          <p:nvSpPr>
            <p:cNvPr id="958759062" name="Freeform 6"/>
            <p:cNvSpPr/>
            <p:nvPr/>
          </p:nvSpPr>
          <p:spPr bwMode="auto">
            <a:xfrm>
              <a:off x="855133" y="0"/>
              <a:ext cx="1820333" cy="3971925"/>
            </a:xfrm>
            <a:custGeom>
              <a:avLst/>
              <a:gdLst/>
              <a:ahLst/>
              <a:cxnLst/>
              <a:rect l="0" t="0" r="r" b="b"/>
              <a:pathLst>
                <a:path w="860" h="2502" fill="norm" stroke="1" extrusionOk="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24439589" name="Freeform 7"/>
            <p:cNvSpPr/>
            <p:nvPr/>
          </p:nvSpPr>
          <p:spPr bwMode="auto">
            <a:xfrm>
              <a:off x="270933" y="0"/>
              <a:ext cx="1782233" cy="3862387"/>
            </a:xfrm>
            <a:custGeom>
              <a:avLst/>
              <a:gdLst/>
              <a:ahLst/>
              <a:cxnLst/>
              <a:rect l="0" t="0" r="r" b="b"/>
              <a:pathLst>
                <a:path w="842" h="2433" fill="norm" stroke="1" extrusionOk="0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259767062" name="Freeform 8"/>
            <p:cNvSpPr/>
            <p:nvPr/>
          </p:nvSpPr>
          <p:spPr bwMode="auto">
            <a:xfrm>
              <a:off x="277283" y="3776662"/>
              <a:ext cx="2582333" cy="3081337"/>
            </a:xfrm>
            <a:custGeom>
              <a:avLst/>
              <a:gdLst/>
              <a:ahLst/>
              <a:cxnLst/>
              <a:rect l="0" t="0" r="r" b="b"/>
              <a:pathLst>
                <a:path w="1220" h="1941" fill="norm" stroke="1" extrusionOk="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23768917" name="Freeform 9"/>
            <p:cNvSpPr/>
            <p:nvPr/>
          </p:nvSpPr>
          <p:spPr bwMode="auto">
            <a:xfrm>
              <a:off x="861483" y="3886200"/>
              <a:ext cx="3164417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 fill="norm" stroke="1" extrusionOk="0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29949239" name="Freeform 10"/>
            <p:cNvSpPr/>
            <p:nvPr/>
          </p:nvSpPr>
          <p:spPr bwMode="auto">
            <a:xfrm>
              <a:off x="855133" y="3881436"/>
              <a:ext cx="4453466" cy="2976562"/>
            </a:xfrm>
            <a:custGeom>
              <a:avLst/>
              <a:gdLst/>
              <a:ahLst/>
              <a:cxnLst/>
              <a:rect l="0" t="0" r="r" b="b"/>
              <a:pathLst>
                <a:path w="2104" h="1875" fill="norm" stroke="1" extrusionOk="0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44615153" name="Freeform 11"/>
            <p:cNvSpPr/>
            <p:nvPr/>
          </p:nvSpPr>
          <p:spPr bwMode="auto">
            <a:xfrm>
              <a:off x="270933" y="3771900"/>
              <a:ext cx="3547533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 fill="norm" stroke="1" extrusionOk="0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83148421" name="Title 1"/>
          <p:cNvSpPr>
            <a:spLocks noGrp="1"/>
          </p:cNvSpPr>
          <p:nvPr>
            <p:ph type="ctrTitle"/>
          </p:nvPr>
        </p:nvSpPr>
        <p:spPr bwMode="auto">
          <a:xfrm>
            <a:off x="2319563" y="914400"/>
            <a:ext cx="9262836" cy="3488265"/>
          </a:xfrm>
        </p:spPr>
        <p:txBody>
          <a:bodyPr anchor="b">
            <a:normAutofit/>
          </a:bodyPr>
          <a:lstStyle>
            <a:lvl1pPr algn="r"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302364" name="Subtitle 2"/>
          <p:cNvSpPr>
            <a:spLocks noGrp="1"/>
          </p:cNvSpPr>
          <p:nvPr>
            <p:ph type="subTitle" idx="1"/>
          </p:nvPr>
        </p:nvSpPr>
        <p:spPr bwMode="auto">
          <a:xfrm>
            <a:off x="3898983" y="4402665"/>
            <a:ext cx="7683417" cy="136453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8408608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9767696" y="6117336"/>
            <a:ext cx="1143297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3845939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831643" y="6117336"/>
            <a:ext cx="4812583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387295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033759" y="6117336"/>
            <a:ext cx="548640" cy="3651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50868EA-2A94-DAD8-1152-7B7AFDC5DF24}" type="slidenum">
              <a:rPr lang="en-US"/>
              <a:t>1</a:t>
            </a:fld>
            <a:endParaRPr lang="en-US"/>
          </a:p>
        </p:txBody>
      </p:sp>
      <p:sp>
        <p:nvSpPr>
          <p:cNvPr id="484679635" name="Freeform 12"/>
          <p:cNvSpPr/>
          <p:nvPr/>
        </p:nvSpPr>
        <p:spPr bwMode="auto">
          <a:xfrm>
            <a:off x="270933" y="3771900"/>
            <a:ext cx="482599" cy="90487"/>
          </a:xfrm>
          <a:custGeom>
            <a:avLst/>
            <a:gdLst/>
            <a:ahLst/>
            <a:cxnLst/>
            <a:rect l="0" t="0" r="r" b="b"/>
            <a:pathLst>
              <a:path w="228" h="57" fill="norm" stroke="1" extrusionOk="0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  <p:sp>
        <p:nvSpPr>
          <p:cNvPr id="2082726719" name="Freeform 13"/>
          <p:cNvSpPr/>
          <p:nvPr/>
        </p:nvSpPr>
        <p:spPr bwMode="auto">
          <a:xfrm>
            <a:off x="747183" y="3867149"/>
            <a:ext cx="82550" cy="80962"/>
          </a:xfrm>
          <a:custGeom>
            <a:avLst/>
            <a:gdLst/>
            <a:ahLst/>
            <a:cxnLst/>
            <a:rect l="0" t="0" r="r" b="b"/>
            <a:pathLst>
              <a:path w="39" h="51" fill="norm" stroke="1" extrusionOk="0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311609" name="Title 1"/>
          <p:cNvSpPr>
            <a:spLocks noGrp="1"/>
          </p:cNvSpPr>
          <p:nvPr>
            <p:ph type="title"/>
          </p:nvPr>
        </p:nvSpPr>
        <p:spPr bwMode="auto">
          <a:xfrm>
            <a:off x="1309510" y="457200"/>
            <a:ext cx="10272888" cy="198119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3722486" name="Content Placeholder 2"/>
          <p:cNvSpPr>
            <a:spLocks noGrp="1"/>
          </p:cNvSpPr>
          <p:nvPr>
            <p:ph idx="1"/>
          </p:nvPr>
        </p:nvSpPr>
        <p:spPr bwMode="auto">
          <a:xfrm>
            <a:off x="1309510" y="2666999"/>
            <a:ext cx="10272888" cy="3332815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2521313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9792438" y="6108172"/>
            <a:ext cx="1143297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1365985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630196" y="6108172"/>
            <a:ext cx="7086022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3458966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011955" y="6108172"/>
            <a:ext cx="570443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0B346E5-DA07-1570-5388-552FD0AFB2FB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536596" name="Title 1"/>
          <p:cNvSpPr>
            <a:spLocks noGrp="1"/>
          </p:cNvSpPr>
          <p:nvPr>
            <p:ph type="title"/>
          </p:nvPr>
        </p:nvSpPr>
        <p:spPr bwMode="auto">
          <a:xfrm>
            <a:off x="2649326" y="2666997"/>
            <a:ext cx="8933073" cy="2360070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84152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49330" y="5027069"/>
            <a:ext cx="893306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693022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858862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9783917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031089" y="6116069"/>
            <a:ext cx="551310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D1004AD-0440-191D-9DE0-2F561423972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674986" name="Title 1"/>
          <p:cNvSpPr>
            <a:spLocks noGrp="1"/>
          </p:cNvSpPr>
          <p:nvPr>
            <p:ph type="title"/>
          </p:nvPr>
        </p:nvSpPr>
        <p:spPr bwMode="auto">
          <a:xfrm>
            <a:off x="1309510" y="685800"/>
            <a:ext cx="10272888" cy="175259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678787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309510" y="2666999"/>
            <a:ext cx="4986527" cy="33686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17446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95870" y="2666999"/>
            <a:ext cx="4986527" cy="334682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94615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831793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3144133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12D9A4F-B21F-9A21-AC99-E33050C928D9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5519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75601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772641" y="2658532"/>
            <a:ext cx="4608387" cy="576261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3175407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84697" y="3335335"/>
            <a:ext cx="4896330" cy="2665258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89422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82279" y="2666999"/>
            <a:ext cx="4623741" cy="576261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949943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609687" y="3335335"/>
            <a:ext cx="4896330" cy="2665258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76129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9799243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8533294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24AB073-0946-226E-BC06-894DC8AAFE94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0763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03193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81453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0691236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991CAEE-F250-E95F-A571-1DC9EFE9A100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7639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57903115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8227373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CBE2AB9-7519-4D58-175A-DF752FAF7E1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49711" name="Title 1"/>
          <p:cNvSpPr>
            <a:spLocks noGrp="1"/>
          </p:cNvSpPr>
          <p:nvPr>
            <p:ph type="title"/>
          </p:nvPr>
        </p:nvSpPr>
        <p:spPr bwMode="auto">
          <a:xfrm>
            <a:off x="1484698" y="1600200"/>
            <a:ext cx="3550043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8942850" name="Content Placeholder 2"/>
          <p:cNvSpPr>
            <a:spLocks noGrp="1"/>
          </p:cNvSpPr>
          <p:nvPr>
            <p:ph idx="1"/>
          </p:nvPr>
        </p:nvSpPr>
        <p:spPr bwMode="auto">
          <a:xfrm>
            <a:off x="5263403" y="685800"/>
            <a:ext cx="6242616" cy="51054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30574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84698" y="2971800"/>
            <a:ext cx="3550043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71403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412984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336151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54EBEC4-021B-5A01-B757-0482D85148F8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20045" name="Title 1"/>
          <p:cNvSpPr>
            <a:spLocks noGrp="1"/>
          </p:cNvSpPr>
          <p:nvPr>
            <p:ph type="title"/>
          </p:nvPr>
        </p:nvSpPr>
        <p:spPr bwMode="auto">
          <a:xfrm>
            <a:off x="1483109" y="1752598"/>
            <a:ext cx="5427571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686548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96659" y="914400"/>
            <a:ext cx="3281827" cy="4572000"/>
          </a:xfrm>
          <a:prstGeom prst="roundRect">
            <a:avLst>
              <a:gd name="adj" fmla="val 4280"/>
            </a:avLst>
          </a:prstGeom>
          <a:ln w="38100">
            <a:gradFill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7702581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83109" y="3124198"/>
            <a:ext cx="542757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160263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767954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108066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BDC1892-1C40-6A15-6ABC-953A83E142EC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601761" name="Title 1"/>
          <p:cNvSpPr>
            <a:spLocks noGrp="1"/>
          </p:cNvSpPr>
          <p:nvPr>
            <p:ph type="title"/>
          </p:nvPr>
        </p:nvSpPr>
        <p:spPr bwMode="auto">
          <a:xfrm>
            <a:off x="1484697" y="4732864"/>
            <a:ext cx="10021320" cy="5667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02362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2386633" y="932112"/>
            <a:ext cx="8228086" cy="3164976"/>
          </a:xfrm>
          <a:prstGeom prst="roundRect">
            <a:avLst>
              <a:gd name="adj" fmla="val 4380"/>
            </a:avLst>
          </a:prstGeom>
          <a:ln w="38100">
            <a:gradFill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354466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84697" y="5299601"/>
            <a:ext cx="10021320" cy="49371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984872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9148823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898224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E0D524B-4B8A-78BC-5723-58F4657045B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169336" name="Title 1"/>
          <p:cNvSpPr>
            <a:spLocks noGrp="1"/>
          </p:cNvSpPr>
          <p:nvPr>
            <p:ph type="title"/>
          </p:nvPr>
        </p:nvSpPr>
        <p:spPr bwMode="auto">
          <a:xfrm>
            <a:off x="1484698" y="685800"/>
            <a:ext cx="10021320" cy="3047999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91085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343400"/>
            <a:ext cx="10021322" cy="1447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5920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437455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657383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23BC8DA5-1474-04E3-2587-73CE7472ED66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14233" name="TextBox 13"/>
          <p:cNvSpPr txBox="1"/>
          <p:nvPr/>
        </p:nvSpPr>
        <p:spPr bwMode="auto">
          <a:xfrm>
            <a:off x="1292561" y="863022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794853231" name="TextBox 14"/>
          <p:cNvSpPr txBox="1"/>
          <p:nvPr/>
        </p:nvSpPr>
        <p:spPr bwMode="auto">
          <a:xfrm>
            <a:off x="10896262" y="2819398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433978971" name="Title 1"/>
          <p:cNvSpPr>
            <a:spLocks noGrp="1"/>
          </p:cNvSpPr>
          <p:nvPr>
            <p:ph type="title"/>
          </p:nvPr>
        </p:nvSpPr>
        <p:spPr bwMode="auto">
          <a:xfrm>
            <a:off x="1902321" y="685800"/>
            <a:ext cx="9298819" cy="274319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9985575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2130979" y="3428997"/>
            <a:ext cx="8841503" cy="380999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3523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7" y="4343400"/>
            <a:ext cx="10021320" cy="1447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81435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3410050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385356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5A2E56C-7ABD-0993-C271-F01E1B14B077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230635" name="Title 1"/>
          <p:cNvSpPr>
            <a:spLocks noGrp="1"/>
          </p:cNvSpPr>
          <p:nvPr>
            <p:ph type="title"/>
          </p:nvPr>
        </p:nvSpPr>
        <p:spPr bwMode="auto">
          <a:xfrm>
            <a:off x="1484699" y="3308580"/>
            <a:ext cx="10021318" cy="1468799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06908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777380"/>
            <a:ext cx="1002132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28568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182768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431408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EF7C024-6FDD-006F-701E-8A641AAA5D2E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91487" name="TextBox 13"/>
          <p:cNvSpPr txBox="1"/>
          <p:nvPr/>
        </p:nvSpPr>
        <p:spPr bwMode="auto">
          <a:xfrm>
            <a:off x="1292561" y="863022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678707056" name="TextBox 14"/>
          <p:cNvSpPr txBox="1"/>
          <p:nvPr/>
        </p:nvSpPr>
        <p:spPr bwMode="auto">
          <a:xfrm>
            <a:off x="10896262" y="2819398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495108213" name="Title 1"/>
          <p:cNvSpPr>
            <a:spLocks noGrp="1"/>
          </p:cNvSpPr>
          <p:nvPr>
            <p:ph type="title"/>
          </p:nvPr>
        </p:nvSpPr>
        <p:spPr bwMode="auto">
          <a:xfrm>
            <a:off x="1902321" y="685800"/>
            <a:ext cx="9298819" cy="274319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6633428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484699" y="3886200"/>
            <a:ext cx="10021320" cy="888999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48530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775199"/>
            <a:ext cx="10021320" cy="1015999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47460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63962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136023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94CED88-665F-4909-D220-2E1EAE5715F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777516" name="Title 1"/>
          <p:cNvSpPr>
            <a:spLocks noGrp="1"/>
          </p:cNvSpPr>
          <p:nvPr>
            <p:ph type="title"/>
          </p:nvPr>
        </p:nvSpPr>
        <p:spPr bwMode="auto">
          <a:xfrm>
            <a:off x="1484699" y="685800"/>
            <a:ext cx="10021320" cy="272732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4311007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484698" y="3505198"/>
            <a:ext cx="10021322" cy="83819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97452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343400"/>
            <a:ext cx="10021322" cy="144779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35611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070323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5729644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BF1B638-B7AA-072F-16F2-847CC4F8F7A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336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056273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3365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499253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5362073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C415180-611B-18D5-71E9-1F140013F943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36443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735190" y="685800"/>
            <a:ext cx="1770829" cy="5105399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84912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84698" y="685800"/>
            <a:ext cx="8021830" cy="5105399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13185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846787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864401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2AFF984-F82B-10F1-88A4-888E46A9CD89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6065068" name="Group 13"/>
          <p:cNvGrpSpPr/>
          <p:nvPr/>
        </p:nvGrpSpPr>
        <p:grpSpPr bwMode="auto">
          <a:xfrm>
            <a:off x="0" y="0"/>
            <a:ext cx="2842682" cy="6858000"/>
            <a:chOff x="0" y="0"/>
            <a:chExt cx="2842682" cy="6858000"/>
          </a:xfrm>
        </p:grpSpPr>
        <p:sp>
          <p:nvSpPr>
            <p:cNvPr id="1204826396" name="Freeform 6"/>
            <p:cNvSpPr/>
            <p:nvPr/>
          </p:nvSpPr>
          <p:spPr bwMode="auto">
            <a:xfrm>
              <a:off x="0" y="0"/>
              <a:ext cx="1430866" cy="5291137"/>
            </a:xfrm>
            <a:custGeom>
              <a:avLst/>
              <a:gdLst/>
              <a:ahLst/>
              <a:cxnLst/>
              <a:rect l="0" t="0" r="r" b="b"/>
              <a:pathLst>
                <a:path w="676" h="3333" fill="norm" stroke="1" extrusionOk="0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11451764" name="Freeform 7"/>
            <p:cNvSpPr/>
            <p:nvPr/>
          </p:nvSpPr>
          <p:spPr bwMode="auto">
            <a:xfrm>
              <a:off x="0" y="0"/>
              <a:ext cx="1011766" cy="4624386"/>
            </a:xfrm>
            <a:custGeom>
              <a:avLst/>
              <a:gdLst/>
              <a:ahLst/>
              <a:cxnLst/>
              <a:rect l="0" t="0" r="r" b="b"/>
              <a:pathLst>
                <a:path w="478" h="2913" fill="norm" stroke="1" extrusionOk="0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918038488" name="Freeform 8"/>
            <p:cNvSpPr/>
            <p:nvPr/>
          </p:nvSpPr>
          <p:spPr bwMode="auto">
            <a:xfrm>
              <a:off x="0" y="5662612"/>
              <a:ext cx="1208617" cy="1195387"/>
            </a:xfrm>
            <a:custGeom>
              <a:avLst/>
              <a:gdLst/>
              <a:ahLst/>
              <a:cxnLst/>
              <a:rect l="0" t="0" r="r" b="b"/>
              <a:pathLst>
                <a:path w="571" h="753" fill="norm" stroke="1" extrusionOk="0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02883505" name="Freeform 9"/>
            <p:cNvSpPr/>
            <p:nvPr/>
          </p:nvSpPr>
          <p:spPr bwMode="auto">
            <a:xfrm>
              <a:off x="0" y="5295898"/>
              <a:ext cx="1983317" cy="1562099"/>
            </a:xfrm>
            <a:custGeom>
              <a:avLst/>
              <a:gdLst/>
              <a:ahLst/>
              <a:cxnLst/>
              <a:rect l="0" t="0" r="r" b="b"/>
              <a:pathLst>
                <a:path w="937" h="984" fill="norm" stroke="1" extrusionOk="0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115250907" name="Freeform 10"/>
            <p:cNvSpPr/>
            <p:nvPr/>
          </p:nvSpPr>
          <p:spPr bwMode="auto">
            <a:xfrm>
              <a:off x="0" y="5257800"/>
              <a:ext cx="2842682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 fill="norm" stroke="1" extrusionOk="0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980336894" name="Freeform 11"/>
            <p:cNvSpPr/>
            <p:nvPr/>
          </p:nvSpPr>
          <p:spPr bwMode="auto">
            <a:xfrm>
              <a:off x="0" y="5357812"/>
              <a:ext cx="1837266" cy="1500187"/>
            </a:xfrm>
            <a:custGeom>
              <a:avLst/>
              <a:gdLst/>
              <a:ahLst/>
              <a:cxnLst/>
              <a:rect l="0" t="0" r="r" b="b"/>
              <a:pathLst>
                <a:path w="868" h="945" fill="norm" stroke="1" extrusionOk="0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124838969" name="Title Placeholder 1"/>
          <p:cNvSpPr>
            <a:spLocks noGrp="1"/>
          </p:cNvSpPr>
          <p:nvPr>
            <p:ph type="title"/>
          </p:nvPr>
        </p:nvSpPr>
        <p:spPr bwMode="auto">
          <a:xfrm>
            <a:off x="1309510" y="457200"/>
            <a:ext cx="10272888" cy="19811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06274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09511" y="2666999"/>
            <a:ext cx="10272888" cy="33569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823979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9811571" y="6116069"/>
            <a:ext cx="1143297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1016429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649329" y="6116069"/>
            <a:ext cx="7086022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7033336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031089" y="6116069"/>
            <a:ext cx="55131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533305A-775B-686B-4518-CA5D596BDE40}" type="slidenum">
              <a:rPr lang="en-US"/>
              <a:t>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1"/>
  <p:txStyles>
    <p:titleStyle>
      <a:lvl1pPr algn="ctr" defTabSz="457200" rtl="0">
        <a:spcBef>
          <a:spcPts val="0"/>
        </a:spcBef>
        <a:buNone/>
        <a:defRPr sz="4000" cap="none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856871" name="Google Shape;128;p13"/>
          <p:cNvSpPr txBox="1">
            <a:spLocks noGrp="1"/>
          </p:cNvSpPr>
          <p:nvPr>
            <p:ph type="ctrTitle"/>
          </p:nvPr>
        </p:nvSpPr>
        <p:spPr bwMode="auto">
          <a:xfrm flipH="0" flipV="0">
            <a:off x="2375658" y="322316"/>
            <a:ext cx="7537599" cy="1427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Autofit/>
          </a:bodyPr>
          <a:lstStyle/>
          <a:p>
            <a:pPr algn="ctr">
              <a:defRPr/>
            </a:pPr>
            <a:r>
              <a:rPr sz="2600" b="1">
                <a:latin typeface="Times New Roman"/>
                <a:ea typeface="Times New Roman"/>
                <a:cs typeface="Times New Roman"/>
              </a:rPr>
              <a:t>Deep Learning-Based Detection of Referable Diabetic Retinopathy and Macular Edema Using Ultra-Widefield Fundus Imaging</a:t>
            </a:r>
            <a:endParaRPr/>
          </a:p>
        </p:txBody>
      </p:sp>
      <p:sp>
        <p:nvSpPr>
          <p:cNvPr id="669226805" name="Google Shape;129;p13"/>
          <p:cNvSpPr txBox="1">
            <a:spLocks noGrp="1"/>
          </p:cNvSpPr>
          <p:nvPr>
            <p:ph type="subTitle" idx="1"/>
          </p:nvPr>
        </p:nvSpPr>
        <p:spPr bwMode="auto">
          <a:xfrm>
            <a:off x="1583499" y="2671149"/>
            <a:ext cx="9217199" cy="3312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800">
                <a:solidFill>
                  <a:srgbClr val="000000"/>
                </a:solidFill>
              </a:rPr>
              <a:t> 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800">
                <a:solidFill>
                  <a:srgbClr val="000000"/>
                </a:solidFill>
              </a:rPr>
              <a:t>                       </a:t>
            </a:r>
            <a:endParaRPr sz="1800"/>
          </a:p>
          <a:p>
            <a:pPr marL="0" lvl="0" indent="0" algn="ctr" rtl="0">
              <a:spcBef>
                <a:spcPts val="479"/>
              </a:spcBef>
              <a:spcAft>
                <a:spcPts val="0"/>
              </a:spcAft>
              <a:buSzPts val="2040"/>
              <a:buNone/>
              <a:defRPr/>
            </a:pP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79"/>
              </a:spcBef>
              <a:spcAft>
                <a:spcPts val="0"/>
              </a:spcAft>
              <a:buSzPts val="2040"/>
              <a:buNone/>
              <a:defRPr/>
            </a:pPr>
            <a:endParaRPr sz="18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479"/>
              </a:spcBef>
              <a:spcAft>
                <a:spcPts val="0"/>
              </a:spcAft>
              <a:buSzPts val="2040"/>
              <a:buNone/>
              <a:defRPr/>
            </a:pPr>
            <a:endParaRPr sz="18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479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Guide: </a:t>
            </a:r>
            <a:r>
              <a:rPr sz="1600">
                <a:latin typeface="Times New Roman"/>
                <a:ea typeface="Times New Roman"/>
                <a:cs typeface="Times New Roman"/>
              </a:rPr>
              <a:t>Nishmitha K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0" lvl="0" indent="0" algn="ctr" rtl="0">
              <a:spcBef>
                <a:spcPts val="479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Designation: Assistant Professor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0" lvl="0" indent="0" algn="ctr" rtl="0">
              <a:spcBef>
                <a:spcPts val="479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of Computer Science &amp; Engineering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0" lvl="0" indent="0" algn="ctr" rtl="0">
              <a:spcBef>
                <a:spcPts val="479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B.M.S. College of Engineering</a:t>
            </a:r>
            <a:endParaRPr sz="16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12222016" name="Google Shape;130;p13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0163433" y="476673"/>
            <a:ext cx="1135966" cy="7390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1268431" name="Google Shape;131;p13"/>
          <p:cNvGraphicFramePr>
            <a:graphicFrameLocks xmlns:a="http://schemas.openxmlformats.org/drawingml/2006/main"/>
          </p:cNvGraphicFramePr>
          <p:nvPr/>
        </p:nvGraphicFramePr>
        <p:xfrm rot="0">
          <a:off x="3464624" y="2556199"/>
          <a:ext cx="5443399" cy="1743374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2721699"/>
                <a:gridCol w="2721699"/>
              </a:tblGrid>
              <a:tr h="3257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Rohan S M</a:t>
                      </a:r>
                      <a:endParaRPr sz="2200"/>
                    </a:p>
                    <a:p>
                      <a:pPr algn="ctr">
                        <a:defRPr/>
                      </a:pPr>
                      <a:r>
                        <a:rPr sz="1600">
                          <a:latin typeface="Times New Roman"/>
                        </a:rPr>
                        <a:t>1WN24CS232</a:t>
                      </a:r>
                      <a:endParaRPr sz="2200"/>
                    </a:p>
                    <a:p>
                      <a:pPr algn="ctr">
                        <a:defRPr/>
                      </a:pPr>
                      <a:endParaRPr sz="2200"/>
                    </a:p>
                    <a:p>
                      <a:pPr algn="ctr">
                        <a:defRPr/>
                      </a:pPr>
                      <a:r>
                        <a:rPr sz="1600">
                          <a:latin typeface="Times New Roman"/>
                        </a:rPr>
                        <a:t>Sakshi Hegde</a:t>
                      </a:r>
                      <a:endParaRPr sz="2200"/>
                    </a:p>
                    <a:p>
                      <a:pPr algn="ctr">
                        <a:defRPr/>
                      </a:pPr>
                      <a:r>
                        <a:rPr sz="1600">
                          <a:latin typeface="Times New Roman"/>
                        </a:rPr>
                        <a:t>1WN24CS241</a:t>
                      </a:r>
                      <a:endParaRPr sz="2200"/>
                    </a:p>
                  </a:txBody>
                  <a:tcPr marL="91423" marR="91423" marT="91423" marB="91423">
                    <a:lnL w="9524" algn="ctr">
                      <a:solidFill>
                        <a:srgbClr val="9E9E9E">
                          <a:alpha val="0"/>
                        </a:srgbClr>
                      </a:solidFill>
                    </a:lnL>
                    <a:lnR w="9524" algn="ctr">
                      <a:solidFill>
                        <a:srgbClr val="9E9E9E">
                          <a:alpha val="0"/>
                        </a:srgbClr>
                      </a:solidFill>
                    </a:lnR>
                    <a:lnT w="9524" algn="ctr">
                      <a:solidFill>
                        <a:srgbClr val="9E9E9E">
                          <a:alpha val="0"/>
                        </a:srgbClr>
                      </a:solidFill>
                    </a:lnT>
                    <a:lnB w="9524" algn="ctr">
                      <a:solidFill>
                        <a:srgbClr val="9E9E9E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1600">
                          <a:latin typeface="Times New Roman"/>
                        </a:rPr>
                        <a:t>Satwik G J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defRPr/>
                      </a:pPr>
                      <a:r>
                        <a:rPr sz="1600">
                          <a:latin typeface="Times New Roman"/>
                        </a:rPr>
                        <a:t>1WN24CS254</a:t>
                      </a:r>
                      <a:endParaRPr sz="2200"/>
                    </a:p>
                    <a:p>
                      <a:pPr algn="ctr">
                        <a:defRPr/>
                      </a:pPr>
                      <a:endParaRPr sz="2200"/>
                    </a:p>
                    <a:p>
                      <a:pPr algn="ctr">
                        <a:defRPr/>
                      </a:pPr>
                      <a:r>
                        <a:rPr sz="1600">
                          <a:latin typeface="Times New Roman"/>
                        </a:rPr>
                        <a:t>Sharanya</a:t>
                      </a:r>
                      <a:endParaRPr sz="2200"/>
                    </a:p>
                    <a:p>
                      <a:pPr algn="ctr">
                        <a:defRPr/>
                      </a:pPr>
                      <a:r>
                        <a:rPr sz="1600">
                          <a:latin typeface="Times New Roman"/>
                        </a:rPr>
                        <a:t>1WN24CS259</a:t>
                      </a:r>
                      <a:endParaRPr sz="2200"/>
                    </a:p>
                  </a:txBody>
                  <a:tcPr marL="91423" marR="91423" marT="91423" marB="91423">
                    <a:lnL w="9524" algn="ctr">
                      <a:solidFill>
                        <a:srgbClr val="9E9E9E">
                          <a:alpha val="0"/>
                        </a:srgbClr>
                      </a:solidFill>
                    </a:lnL>
                    <a:lnR w="9524" algn="ctr">
                      <a:solidFill>
                        <a:srgbClr val="9E9E9E">
                          <a:alpha val="0"/>
                        </a:srgbClr>
                      </a:solidFill>
                    </a:lnR>
                    <a:lnT w="9524" algn="ctr">
                      <a:solidFill>
                        <a:srgbClr val="9E9E9E">
                          <a:alpha val="0"/>
                        </a:srgbClr>
                      </a:solidFill>
                    </a:lnT>
                    <a:lnB w="9524" algn="ctr">
                      <a:solidFill>
                        <a:srgbClr val="9E9E9E">
                          <a:alpha val="0"/>
                        </a:srgbClr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237891" name="Google Shape;140;p14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  <a:defRPr/>
            </a:pPr>
            <a:r>
              <a:rPr lang="en-US" sz="4800" b="1"/>
              <a:t>OUTLINE</a:t>
            </a:r>
            <a:endParaRPr sz="4800" b="1"/>
          </a:p>
        </p:txBody>
      </p:sp>
      <p:sp>
        <p:nvSpPr>
          <p:cNvPr id="1392175171" name="Google Shape;141;p14"/>
          <p:cNvSpPr txBox="1">
            <a:spLocks noGrp="1"/>
          </p:cNvSpPr>
          <p:nvPr>
            <p:ph idx="1"/>
          </p:nvPr>
        </p:nvSpPr>
        <p:spPr bwMode="auto">
          <a:xfrm>
            <a:off x="2438399" y="2499999"/>
            <a:ext cx="7774333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/>
          <a:p>
            <a:pPr marL="355878" lvl="0" indent="-327936" algn="just" rtl="0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600"/>
              <a:buFont typeface="Times New Roman"/>
              <a:buAutoNum type="arabicParenR"/>
              <a:defRPr/>
            </a:pPr>
            <a:r>
              <a:rPr lang="en-US" sz="2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2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355878" lvl="0" indent="-327936" algn="just" rtl="0">
              <a:spcBef>
                <a:spcPts val="479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600"/>
              <a:buFont typeface="Times New Roman"/>
              <a:buAutoNum type="arabicParenR"/>
              <a:defRPr/>
            </a:pPr>
            <a:r>
              <a:rPr lang="en-US" sz="2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Problem Statement &amp; Objectives</a:t>
            </a:r>
            <a:endParaRPr sz="22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355878" lvl="0" indent="-327936" algn="just" rtl="0">
              <a:spcBef>
                <a:spcPts val="479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600"/>
              <a:buFont typeface="Times New Roman"/>
              <a:buAutoNum type="arabicParenR"/>
              <a:defRPr/>
            </a:pPr>
            <a:r>
              <a:rPr lang="en-US" sz="2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Literature Survey (IEEE)</a:t>
            </a:r>
            <a:endParaRPr sz="22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355878" lvl="0" indent="-327936" algn="just" rtl="0">
              <a:spcBef>
                <a:spcPts val="479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600"/>
              <a:buFont typeface="Times New Roman"/>
              <a:buAutoNum type="arabicParenR"/>
              <a:defRPr/>
            </a:pPr>
            <a:r>
              <a:rPr lang="en-US" sz="2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Comparison of Existing Methods</a:t>
            </a:r>
            <a:endParaRPr sz="22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355878" lvl="0" indent="-327936" algn="just" rtl="0">
              <a:spcBef>
                <a:spcPts val="479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600"/>
              <a:buFont typeface="Times New Roman"/>
              <a:buAutoNum type="arabicParenR"/>
              <a:defRPr/>
            </a:pPr>
            <a:r>
              <a:rPr lang="en-US" sz="2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Datasets &amp; Preprocessing</a:t>
            </a:r>
            <a:endParaRPr sz="22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355878" lvl="0" indent="-327936" algn="just" rtl="0">
              <a:spcBef>
                <a:spcPts val="479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600"/>
              <a:buFont typeface="Times New Roman"/>
              <a:buAutoNum type="arabicParenR"/>
              <a:defRPr/>
            </a:pPr>
            <a:r>
              <a:rPr lang="en-US" sz="2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Methodology (Tasks 1–3)</a:t>
            </a:r>
            <a:endParaRPr sz="22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355878" lvl="0" indent="-327936" algn="just" rtl="0">
              <a:spcBef>
                <a:spcPts val="479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600"/>
              <a:buFont typeface="Times New Roman"/>
              <a:buAutoNum type="arabicParenR"/>
              <a:defRPr/>
            </a:pPr>
            <a:r>
              <a:rPr lang="en-US" sz="2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 &amp; Discussion</a:t>
            </a:r>
            <a:endParaRPr sz="22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355878" lvl="0" indent="-327936" algn="just" rtl="0">
              <a:spcBef>
                <a:spcPts val="479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600"/>
              <a:buFont typeface="Times New Roman"/>
              <a:buAutoNum type="arabicParenR"/>
              <a:defRPr/>
            </a:pPr>
            <a:r>
              <a:rPr lang="en-US" sz="2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Conclusion &amp; References</a:t>
            </a:r>
            <a:endParaRPr sz="22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99759980" name="Google Shape;143;p14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F77F35F-6FC7-8B95-6B95-391797FFAE7D}" type="slidenum">
              <a:rPr lang="en-US"/>
              <a:t>2</a:t>
            </a:fld>
            <a:endParaRPr/>
          </a:p>
        </p:txBody>
      </p:sp>
      <p:pic>
        <p:nvPicPr>
          <p:cNvPr id="1707665816" name="Google Shape;144;p1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0163433" y="476674"/>
            <a:ext cx="1135966" cy="62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7686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4800" b="1"/>
              <a:t>Introduction</a:t>
            </a:r>
            <a:endParaRPr sz="7200"/>
          </a:p>
        </p:txBody>
      </p:sp>
      <p:sp>
        <p:nvSpPr>
          <p:cNvPr id="143892856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83384" y="1949998"/>
            <a:ext cx="8666665" cy="38483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spcAft>
                <a:spcPts val="499"/>
              </a:spcAft>
              <a:defRPr/>
            </a:pPr>
            <a:r>
              <a:rPr sz="2000" b="1"/>
              <a:t>The clinical problem: </a:t>
            </a:r>
            <a:r>
              <a:rPr sz="1800"/>
              <a:t>Diabetic retinopathy (DR) and diabetic macular edema (DME) are leading causes of preventable blindness, mostly affecting the working-age population.</a:t>
            </a:r>
            <a:endParaRPr sz="3600"/>
          </a:p>
          <a:p>
            <a:pPr>
              <a:spcAft>
                <a:spcPts val="499"/>
              </a:spcAft>
              <a:defRPr/>
            </a:pPr>
            <a:r>
              <a:rPr sz="2000" b="1"/>
              <a:t>Why UWF imaging: </a:t>
            </a:r>
            <a:r>
              <a:rPr sz="1800"/>
              <a:t>Ultra-widefield (UWF) fundus imaging captures peripheral lesions that standard fundus photography can miss, enabling earlier detection of DR and DME.</a:t>
            </a:r>
            <a:endParaRPr sz="3600"/>
          </a:p>
          <a:p>
            <a:pPr>
              <a:spcAft>
                <a:spcPts val="499"/>
              </a:spcAft>
              <a:defRPr/>
            </a:pPr>
            <a:r>
              <a:rPr sz="2000" b="1"/>
              <a:t>Challenges: </a:t>
            </a:r>
            <a:r>
              <a:rPr sz="1800"/>
              <a:t>Image quality varies with patient cooperation and imaging conditions, and interpreting wide-field images needs considerable expertise.</a:t>
            </a:r>
            <a:endParaRPr sz="3600"/>
          </a:p>
          <a:p>
            <a:pPr>
              <a:spcAft>
                <a:spcPts val="499"/>
              </a:spcAft>
              <a:defRPr/>
            </a:pPr>
            <a:r>
              <a:rPr sz="2000" b="1"/>
              <a:t>Opportunity: </a:t>
            </a:r>
            <a:r>
              <a:rPr sz="1800"/>
              <a:t>CNNs such as EfficientNet and ResNet, with transfer learning, ensembling and test-time augmentation, can make DR/DME screening faster and more scalable.</a:t>
            </a:r>
            <a:endParaRPr sz="3600"/>
          </a:p>
        </p:txBody>
      </p:sp>
      <p:sp>
        <p:nvSpPr>
          <p:cNvPr id="1508295049" name="Google Shape;181;p17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36E0B30-6F1B-D425-49AC-91EB406E7E7D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869531843" name="Picture 18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163433" y="476674"/>
            <a:ext cx="1135966" cy="62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9342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4800" b="1"/>
              <a:t>Problem Statement &amp; Objectives</a:t>
            </a:r>
            <a:endParaRPr sz="9000"/>
          </a:p>
        </p:txBody>
      </p:sp>
      <p:sp>
        <p:nvSpPr>
          <p:cNvPr id="62231797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31009" y="2500312"/>
            <a:ext cx="8666665" cy="2963872"/>
          </a:xfrm>
        </p:spPr>
        <p:txBody>
          <a:bodyPr anchor="t"/>
          <a:lstStyle/>
          <a:p>
            <a:pPr>
              <a:spcAft>
                <a:spcPts val="499"/>
              </a:spcAft>
              <a:defRPr/>
            </a:pPr>
            <a:r>
              <a:rPr sz="2000" b="1"/>
              <a:t>Problem statement: </a:t>
            </a:r>
            <a:r>
              <a:rPr sz="2000"/>
              <a:t>Manual analysis of UWF fundus images is time-consuming and expertise-dependent, and poor-quality images risk misdiagnosis or overlooked disease.</a:t>
            </a:r>
            <a:endParaRPr sz="3600"/>
          </a:p>
          <a:p>
            <a:pPr>
              <a:spcAft>
                <a:spcPts val="499"/>
              </a:spcAft>
              <a:defRPr/>
            </a:pPr>
            <a:r>
              <a:rPr sz="2000" b="1"/>
              <a:t>Objective: </a:t>
            </a:r>
            <a:r>
              <a:rPr sz="2000"/>
              <a:t>Design deep learning solutions for the MICCAI 2024 UWF4DR challenge covering three tasks:</a:t>
            </a:r>
            <a:endParaRPr sz="3600"/>
          </a:p>
          <a:p>
            <a:pPr>
              <a:spcAft>
                <a:spcPts val="499"/>
              </a:spcAft>
              <a:defRPr/>
            </a:pPr>
            <a:r>
              <a:rPr sz="2000" b="1"/>
              <a:t>Task 1 – </a:t>
            </a:r>
            <a:r>
              <a:rPr sz="2000"/>
              <a:t>Image quality assessment (good vs. bad quality)</a:t>
            </a:r>
            <a:endParaRPr sz="3600"/>
          </a:p>
          <a:p>
            <a:pPr>
              <a:spcAft>
                <a:spcPts val="499"/>
              </a:spcAft>
              <a:defRPr/>
            </a:pPr>
            <a:r>
              <a:rPr sz="2000" b="1"/>
              <a:t>Task 2 – </a:t>
            </a:r>
            <a:r>
              <a:rPr sz="2000"/>
              <a:t>Detection of referable diabetic retinopathy (RDR)</a:t>
            </a:r>
            <a:endParaRPr sz="3600"/>
          </a:p>
          <a:p>
            <a:pPr>
              <a:spcAft>
                <a:spcPts val="499"/>
              </a:spcAft>
              <a:defRPr/>
            </a:pPr>
            <a:r>
              <a:rPr sz="2000" b="1"/>
              <a:t>Task 3 – </a:t>
            </a:r>
            <a:r>
              <a:rPr sz="2000"/>
              <a:t>Identification of diabetic macular edema (DME)</a:t>
            </a:r>
            <a:endParaRPr sz="2600"/>
          </a:p>
        </p:txBody>
      </p:sp>
      <p:sp>
        <p:nvSpPr>
          <p:cNvPr id="778261249" name="Google Shape;181;p17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8B45D46-92DD-3F56-7065-B893FE979DF6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054309692" name="Picture 18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163433" y="476674"/>
            <a:ext cx="1135966" cy="62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">
      <a:majorFont>
        <a:latin typeface="Corbel"/>
        <a:ea typeface="Arial"/>
        <a:cs typeface="Arial"/>
      </a:majorFont>
      <a:minorFont>
        <a:latin typeface="Corbel"/>
        <a:ea typeface="Arial"/>
        <a:cs typeface="Arial"/>
      </a:minorFont>
    </a:fontScheme>
    <a:fmtScheme name="Parallax"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/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2026-10-28T16:07:55Z</dcterms:modified>
</cp:coreProperties>
</file>