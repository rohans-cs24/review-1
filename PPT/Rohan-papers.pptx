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2161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106900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4705325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98948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229294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605698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8919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2998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0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6F5227-C244-1C6F-D850-E301901483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5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6775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761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F6FB4-B784-E43E-7F5C-A1820B0ABD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6324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8949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7387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34768C-BC18-A00F-4D68-848305B81E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398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3206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4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C89D81-ACA3-62B3-9D4D-D333EC0255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9297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590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7444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2556B7-15BB-AFA8-7302-6054AEDD75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8719536" name="Group 24"/>
          <p:cNvGrpSpPr/>
          <p:nvPr/>
        </p:nvGrpSpPr>
        <p:grpSpPr bwMode="auto">
          <a:xfrm>
            <a:off x="270933" y="0"/>
            <a:ext cx="5037666" cy="6858000"/>
            <a:chOff x="270933" y="0"/>
            <a:chExt cx="5037666" cy="6858000"/>
          </a:xfrm>
        </p:grpSpPr>
        <p:sp>
          <p:nvSpPr>
            <p:cNvPr id="1338692826" name="Freeform 6"/>
            <p:cNvSpPr/>
            <p:nvPr/>
          </p:nvSpPr>
          <p:spPr bwMode="auto">
            <a:xfrm>
              <a:off x="855133" y="0"/>
              <a:ext cx="1820333" cy="3971925"/>
            </a:xfrm>
            <a:custGeom>
              <a:avLst/>
              <a:gdLst/>
              <a:ahLst/>
              <a:cxnLst/>
              <a:rect l="0" t="0" r="r" b="b"/>
              <a:pathLst>
                <a:path w="860" h="2502" fill="norm" stroke="1" extrusionOk="0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848700887" name="Freeform 7"/>
            <p:cNvSpPr/>
            <p:nvPr/>
          </p:nvSpPr>
          <p:spPr bwMode="auto">
            <a:xfrm>
              <a:off x="270933" y="0"/>
              <a:ext cx="1782233" cy="3862387"/>
            </a:xfrm>
            <a:custGeom>
              <a:avLst/>
              <a:gdLst/>
              <a:ahLst/>
              <a:cxnLst/>
              <a:rect l="0" t="0" r="r" b="b"/>
              <a:pathLst>
                <a:path w="842" h="2433" fill="norm" stroke="1" extrusionOk="0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66860319" name="Freeform 8"/>
            <p:cNvSpPr/>
            <p:nvPr/>
          </p:nvSpPr>
          <p:spPr bwMode="auto">
            <a:xfrm>
              <a:off x="277283" y="3776662"/>
              <a:ext cx="2582333" cy="3081337"/>
            </a:xfrm>
            <a:custGeom>
              <a:avLst/>
              <a:gdLst/>
              <a:ahLst/>
              <a:cxnLst/>
              <a:rect l="0" t="0" r="r" b="b"/>
              <a:pathLst>
                <a:path w="1220" h="1941" fill="norm" stroke="1" extrusionOk="0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58229737" name="Freeform 9"/>
            <p:cNvSpPr/>
            <p:nvPr/>
          </p:nvSpPr>
          <p:spPr bwMode="auto">
            <a:xfrm>
              <a:off x="861483" y="3886200"/>
              <a:ext cx="3164417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 fill="norm" stroke="1" extrusionOk="0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49670758" name="Freeform 10"/>
            <p:cNvSpPr/>
            <p:nvPr/>
          </p:nvSpPr>
          <p:spPr bwMode="auto">
            <a:xfrm>
              <a:off x="855133" y="3881436"/>
              <a:ext cx="4453466" cy="2976562"/>
            </a:xfrm>
            <a:custGeom>
              <a:avLst/>
              <a:gdLst/>
              <a:ahLst/>
              <a:cxnLst/>
              <a:rect l="0" t="0" r="r" b="b"/>
              <a:pathLst>
                <a:path w="2104" h="1875" fill="norm" stroke="1" extrusionOk="0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982228721" name="Freeform 11"/>
            <p:cNvSpPr/>
            <p:nvPr/>
          </p:nvSpPr>
          <p:spPr bwMode="auto">
            <a:xfrm>
              <a:off x="270933" y="3771900"/>
              <a:ext cx="3547533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 fill="norm" stroke="1" extrusionOk="0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47258799" name="Title 1"/>
          <p:cNvSpPr>
            <a:spLocks noGrp="1"/>
          </p:cNvSpPr>
          <p:nvPr>
            <p:ph type="ctrTitle"/>
          </p:nvPr>
        </p:nvSpPr>
        <p:spPr bwMode="auto">
          <a:xfrm>
            <a:off x="2319563" y="914400"/>
            <a:ext cx="9262836" cy="3488265"/>
          </a:xfrm>
        </p:spPr>
        <p:txBody>
          <a:bodyPr anchor="b">
            <a:normAutofit/>
          </a:bodyPr>
          <a:lstStyle>
            <a:lvl1pPr algn="r"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4473813" name="Subtitle 2"/>
          <p:cNvSpPr>
            <a:spLocks noGrp="1"/>
          </p:cNvSpPr>
          <p:nvPr>
            <p:ph type="subTitle" idx="1"/>
          </p:nvPr>
        </p:nvSpPr>
        <p:spPr bwMode="auto">
          <a:xfrm>
            <a:off x="3898983" y="4402665"/>
            <a:ext cx="7683417" cy="136453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6446461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9767696" y="6117336"/>
            <a:ext cx="1143297" cy="365124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083398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831643" y="6117336"/>
            <a:ext cx="4812583" cy="365124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6986667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1033759" y="6117336"/>
            <a:ext cx="548640" cy="3651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7EA37F3-9FE0-A75C-6A2F-A1745BD77F80}" type="slidenum">
              <a:rPr lang="en-US"/>
              <a:t>1</a:t>
            </a:fld>
            <a:endParaRPr lang="en-US"/>
          </a:p>
        </p:txBody>
      </p:sp>
      <p:sp>
        <p:nvSpPr>
          <p:cNvPr id="588694408" name="Freeform 12"/>
          <p:cNvSpPr/>
          <p:nvPr/>
        </p:nvSpPr>
        <p:spPr bwMode="auto">
          <a:xfrm>
            <a:off x="270933" y="3771900"/>
            <a:ext cx="482599" cy="90487"/>
          </a:xfrm>
          <a:custGeom>
            <a:avLst/>
            <a:gdLst/>
            <a:ahLst/>
            <a:cxnLst/>
            <a:rect l="0" t="0" r="r" b="b"/>
            <a:pathLst>
              <a:path w="228" h="57" fill="norm" stroke="1" extrusionOk="0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  <p:sp>
        <p:nvSpPr>
          <p:cNvPr id="1833514142" name="Freeform 13"/>
          <p:cNvSpPr/>
          <p:nvPr/>
        </p:nvSpPr>
        <p:spPr bwMode="auto">
          <a:xfrm>
            <a:off x="747183" y="3867149"/>
            <a:ext cx="82550" cy="80962"/>
          </a:xfrm>
          <a:custGeom>
            <a:avLst/>
            <a:gdLst/>
            <a:ahLst/>
            <a:cxnLst/>
            <a:rect l="0" t="0" r="r" b="b"/>
            <a:pathLst>
              <a:path w="39" h="51" fill="norm" stroke="1" extrusionOk="0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767838" name="Title 1"/>
          <p:cNvSpPr>
            <a:spLocks noGrp="1"/>
          </p:cNvSpPr>
          <p:nvPr>
            <p:ph type="title"/>
          </p:nvPr>
        </p:nvSpPr>
        <p:spPr bwMode="auto">
          <a:xfrm>
            <a:off x="1309510" y="457200"/>
            <a:ext cx="10272888" cy="198119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9232277" name="Content Placeholder 2"/>
          <p:cNvSpPr>
            <a:spLocks noGrp="1"/>
          </p:cNvSpPr>
          <p:nvPr>
            <p:ph idx="1"/>
          </p:nvPr>
        </p:nvSpPr>
        <p:spPr bwMode="auto">
          <a:xfrm>
            <a:off x="1309510" y="2666999"/>
            <a:ext cx="10272888" cy="3332815"/>
          </a:xfrm>
        </p:spPr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705954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9792438" y="6108172"/>
            <a:ext cx="1143297" cy="365124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6871440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630196" y="6108172"/>
            <a:ext cx="7086022" cy="365124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7371710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1011955" y="6108172"/>
            <a:ext cx="570443" cy="36512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BDF759F8-D758-ACE9-0D52-04DDDBC101D0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594507" name="Title 1"/>
          <p:cNvSpPr>
            <a:spLocks noGrp="1"/>
          </p:cNvSpPr>
          <p:nvPr>
            <p:ph type="title"/>
          </p:nvPr>
        </p:nvSpPr>
        <p:spPr bwMode="auto">
          <a:xfrm>
            <a:off x="2649326" y="2666997"/>
            <a:ext cx="8933073" cy="2360070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18155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49330" y="5027069"/>
            <a:ext cx="8933069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33936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597988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966328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1031089" y="6116069"/>
            <a:ext cx="551310" cy="36512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B451F5E-E67F-F2DF-722E-860942D5D79D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931341" name="Title 1"/>
          <p:cNvSpPr>
            <a:spLocks noGrp="1"/>
          </p:cNvSpPr>
          <p:nvPr>
            <p:ph type="title"/>
          </p:nvPr>
        </p:nvSpPr>
        <p:spPr bwMode="auto">
          <a:xfrm>
            <a:off x="1309510" y="685800"/>
            <a:ext cx="10272888" cy="1752598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234445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309510" y="2666999"/>
            <a:ext cx="4986527" cy="33686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610759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95870" y="2666999"/>
            <a:ext cx="4986527" cy="334682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01498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5129997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779011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7838EF4-2FD8-3C74-05A8-71AEC7BBCCDC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7803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7461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772641" y="2658532"/>
            <a:ext cx="4608387" cy="576261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7638398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484697" y="3335335"/>
            <a:ext cx="4896330" cy="2665258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78174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82279" y="2666999"/>
            <a:ext cx="4623741" cy="576261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839031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609687" y="3335335"/>
            <a:ext cx="4896330" cy="2665258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955278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79847686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599572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9C1121B7-0143-BCCA-1AE1-561783E162EA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7590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529292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042832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0218681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DA28447-A1CA-7C16-DB1A-1C17692D7ED1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16401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92640977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2108157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655E91B-5194-FFB3-0ECA-B705D8598B98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36714" name="Title 1"/>
          <p:cNvSpPr>
            <a:spLocks noGrp="1"/>
          </p:cNvSpPr>
          <p:nvPr>
            <p:ph type="title"/>
          </p:nvPr>
        </p:nvSpPr>
        <p:spPr bwMode="auto">
          <a:xfrm>
            <a:off x="1484698" y="1600200"/>
            <a:ext cx="3550043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9482330" name="Content Placeholder 2"/>
          <p:cNvSpPr>
            <a:spLocks noGrp="1"/>
          </p:cNvSpPr>
          <p:nvPr>
            <p:ph idx="1"/>
          </p:nvPr>
        </p:nvSpPr>
        <p:spPr bwMode="auto">
          <a:xfrm>
            <a:off x="5263403" y="685800"/>
            <a:ext cx="6242616" cy="51054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54516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84698" y="2971800"/>
            <a:ext cx="3550043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62313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374259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584775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F27A7D0-0C83-D0DF-AE85-C5B77D093ED4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517151" name="Title 1"/>
          <p:cNvSpPr>
            <a:spLocks noGrp="1"/>
          </p:cNvSpPr>
          <p:nvPr>
            <p:ph type="title"/>
          </p:nvPr>
        </p:nvSpPr>
        <p:spPr bwMode="auto">
          <a:xfrm>
            <a:off x="1483109" y="1752598"/>
            <a:ext cx="5427571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279674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96659" y="914400"/>
            <a:ext cx="3281827" cy="4572000"/>
          </a:xfrm>
          <a:prstGeom prst="roundRect">
            <a:avLst>
              <a:gd name="adj" fmla="val 4280"/>
            </a:avLst>
          </a:prstGeom>
          <a:ln w="38100">
            <a:gradFill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563273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83109" y="3124198"/>
            <a:ext cx="542757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19463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548980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883705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9F57199-BC3A-0AA5-7207-347E46F1D2C9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301965" name="Title 1"/>
          <p:cNvSpPr>
            <a:spLocks noGrp="1"/>
          </p:cNvSpPr>
          <p:nvPr>
            <p:ph type="title"/>
          </p:nvPr>
        </p:nvSpPr>
        <p:spPr bwMode="auto">
          <a:xfrm>
            <a:off x="1484697" y="4732864"/>
            <a:ext cx="10021320" cy="5667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750424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2386633" y="932112"/>
            <a:ext cx="8228086" cy="3164976"/>
          </a:xfrm>
          <a:prstGeom prst="roundRect">
            <a:avLst>
              <a:gd name="adj" fmla="val 4380"/>
            </a:avLst>
          </a:prstGeom>
          <a:ln w="38100">
            <a:gradFill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5996952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84697" y="5299601"/>
            <a:ext cx="10021320" cy="49371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983173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1303262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902470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D014912-9348-4608-3F70-AADA71AE3692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57249" name="Title 1"/>
          <p:cNvSpPr>
            <a:spLocks noGrp="1"/>
          </p:cNvSpPr>
          <p:nvPr>
            <p:ph type="title"/>
          </p:nvPr>
        </p:nvSpPr>
        <p:spPr bwMode="auto">
          <a:xfrm>
            <a:off x="1484698" y="685800"/>
            <a:ext cx="10021320" cy="3047999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192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8" y="4343400"/>
            <a:ext cx="10021322" cy="1447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87012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424971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338896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5849EC8-E930-EF5C-08C1-F77BA3C2128D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15943" name="TextBox 13"/>
          <p:cNvSpPr txBox="1"/>
          <p:nvPr/>
        </p:nvSpPr>
        <p:spPr bwMode="auto">
          <a:xfrm>
            <a:off x="1292561" y="863022"/>
            <a:ext cx="609758" cy="584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502125009" name="TextBox 14"/>
          <p:cNvSpPr txBox="1"/>
          <p:nvPr/>
        </p:nvSpPr>
        <p:spPr bwMode="auto">
          <a:xfrm>
            <a:off x="10896262" y="2819398"/>
            <a:ext cx="609758" cy="584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420555689" name="Title 1"/>
          <p:cNvSpPr>
            <a:spLocks noGrp="1"/>
          </p:cNvSpPr>
          <p:nvPr>
            <p:ph type="title"/>
          </p:nvPr>
        </p:nvSpPr>
        <p:spPr bwMode="auto">
          <a:xfrm>
            <a:off x="1902321" y="685800"/>
            <a:ext cx="9298819" cy="274319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0927780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2130979" y="3428997"/>
            <a:ext cx="8841503" cy="380999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91665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7" y="4343400"/>
            <a:ext cx="10021320" cy="1447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126682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0586778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7784359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5B1856B-AB38-C794-8FE1-B2E5EFAB9623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793055" name="Title 1"/>
          <p:cNvSpPr>
            <a:spLocks noGrp="1"/>
          </p:cNvSpPr>
          <p:nvPr>
            <p:ph type="title"/>
          </p:nvPr>
        </p:nvSpPr>
        <p:spPr bwMode="auto">
          <a:xfrm>
            <a:off x="1484699" y="3308580"/>
            <a:ext cx="10021318" cy="1468799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72627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8" y="4777380"/>
            <a:ext cx="1002132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34491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5946591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080819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5C68AA1C-F952-5D23-47E9-DF0ECCDE9080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407094" name="TextBox 13"/>
          <p:cNvSpPr txBox="1"/>
          <p:nvPr/>
        </p:nvSpPr>
        <p:spPr bwMode="auto">
          <a:xfrm>
            <a:off x="1292561" y="863022"/>
            <a:ext cx="609758" cy="584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1090738077" name="TextBox 14"/>
          <p:cNvSpPr txBox="1"/>
          <p:nvPr/>
        </p:nvSpPr>
        <p:spPr bwMode="auto">
          <a:xfrm>
            <a:off x="10896262" y="2819398"/>
            <a:ext cx="609758" cy="584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326213733" name="Title 1"/>
          <p:cNvSpPr>
            <a:spLocks noGrp="1"/>
          </p:cNvSpPr>
          <p:nvPr>
            <p:ph type="title"/>
          </p:nvPr>
        </p:nvSpPr>
        <p:spPr bwMode="auto">
          <a:xfrm>
            <a:off x="1902321" y="685800"/>
            <a:ext cx="9298819" cy="274319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2436175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484699" y="3886200"/>
            <a:ext cx="10021320" cy="888999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9622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8" y="4775199"/>
            <a:ext cx="10021320" cy="1015999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642149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480682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743271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45D8166F-576E-40D5-73F9-E7A36BFEDE8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64385" name="Title 1"/>
          <p:cNvSpPr>
            <a:spLocks noGrp="1"/>
          </p:cNvSpPr>
          <p:nvPr>
            <p:ph type="title"/>
          </p:nvPr>
        </p:nvSpPr>
        <p:spPr bwMode="auto">
          <a:xfrm>
            <a:off x="1484699" y="685800"/>
            <a:ext cx="10021320" cy="272732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437412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484698" y="3505198"/>
            <a:ext cx="10021322" cy="83819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27665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698" y="4343400"/>
            <a:ext cx="10021322" cy="144779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688488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184840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696130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D6414E8-A55E-0782-DA03-C5181E85B77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9207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2416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69029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9571242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2657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5606696D-917F-6871-6B3A-3FC9CC80E41C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26080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735190" y="685800"/>
            <a:ext cx="1770829" cy="5105399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820180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484698" y="685800"/>
            <a:ext cx="8021830" cy="5105399"/>
          </a:xfrm>
        </p:spPr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8368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15402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74985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DC21AA2-6B9C-D034-3878-C8294A3D3061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8836360" name="Group 13"/>
          <p:cNvGrpSpPr/>
          <p:nvPr/>
        </p:nvGrpSpPr>
        <p:grpSpPr bwMode="auto">
          <a:xfrm>
            <a:off x="0" y="0"/>
            <a:ext cx="2842682" cy="6858000"/>
            <a:chOff x="0" y="0"/>
            <a:chExt cx="2842682" cy="6858000"/>
          </a:xfrm>
        </p:grpSpPr>
        <p:sp>
          <p:nvSpPr>
            <p:cNvPr id="253579595" name="Freeform 6"/>
            <p:cNvSpPr/>
            <p:nvPr/>
          </p:nvSpPr>
          <p:spPr bwMode="auto">
            <a:xfrm>
              <a:off x="0" y="0"/>
              <a:ext cx="1430866" cy="5291137"/>
            </a:xfrm>
            <a:custGeom>
              <a:avLst/>
              <a:gdLst/>
              <a:ahLst/>
              <a:cxnLst/>
              <a:rect l="0" t="0" r="r" b="b"/>
              <a:pathLst>
                <a:path w="676" h="3333" fill="norm" stroke="1" extrusionOk="0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17330612" name="Freeform 7"/>
            <p:cNvSpPr/>
            <p:nvPr/>
          </p:nvSpPr>
          <p:spPr bwMode="auto">
            <a:xfrm>
              <a:off x="0" y="0"/>
              <a:ext cx="1011766" cy="4624386"/>
            </a:xfrm>
            <a:custGeom>
              <a:avLst/>
              <a:gdLst/>
              <a:ahLst/>
              <a:cxnLst/>
              <a:rect l="0" t="0" r="r" b="b"/>
              <a:pathLst>
                <a:path w="478" h="2913" fill="norm" stroke="1" extrusionOk="0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137489874" name="Freeform 8"/>
            <p:cNvSpPr/>
            <p:nvPr/>
          </p:nvSpPr>
          <p:spPr bwMode="auto">
            <a:xfrm>
              <a:off x="0" y="5662612"/>
              <a:ext cx="1208617" cy="1195387"/>
            </a:xfrm>
            <a:custGeom>
              <a:avLst/>
              <a:gdLst/>
              <a:ahLst/>
              <a:cxnLst/>
              <a:rect l="0" t="0" r="r" b="b"/>
              <a:pathLst>
                <a:path w="571" h="753" fill="norm" stroke="1" extrusionOk="0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76520239" name="Freeform 9"/>
            <p:cNvSpPr/>
            <p:nvPr/>
          </p:nvSpPr>
          <p:spPr bwMode="auto">
            <a:xfrm>
              <a:off x="0" y="5295898"/>
              <a:ext cx="1983317" cy="1562099"/>
            </a:xfrm>
            <a:custGeom>
              <a:avLst/>
              <a:gdLst/>
              <a:ahLst/>
              <a:cxnLst/>
              <a:rect l="0" t="0" r="r" b="b"/>
              <a:pathLst>
                <a:path w="937" h="984" fill="norm" stroke="1" extrusionOk="0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5317495" name="Freeform 10"/>
            <p:cNvSpPr/>
            <p:nvPr/>
          </p:nvSpPr>
          <p:spPr bwMode="auto">
            <a:xfrm>
              <a:off x="0" y="5257800"/>
              <a:ext cx="2842682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 fill="norm" stroke="1" extrusionOk="0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665741077" name="Freeform 11"/>
            <p:cNvSpPr/>
            <p:nvPr/>
          </p:nvSpPr>
          <p:spPr bwMode="auto">
            <a:xfrm>
              <a:off x="0" y="5357812"/>
              <a:ext cx="1837266" cy="1500187"/>
            </a:xfrm>
            <a:custGeom>
              <a:avLst/>
              <a:gdLst/>
              <a:ahLst/>
              <a:cxnLst/>
              <a:rect l="0" t="0" r="r" b="b"/>
              <a:pathLst>
                <a:path w="868" h="945" fill="norm" stroke="1" extrusionOk="0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983095293" name="Title Placeholder 1"/>
          <p:cNvSpPr>
            <a:spLocks noGrp="1"/>
          </p:cNvSpPr>
          <p:nvPr>
            <p:ph type="title"/>
          </p:nvPr>
        </p:nvSpPr>
        <p:spPr bwMode="auto">
          <a:xfrm>
            <a:off x="1309510" y="457200"/>
            <a:ext cx="10272888" cy="19811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4316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09511" y="2666999"/>
            <a:ext cx="10272888" cy="33569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093867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9811571" y="6116069"/>
            <a:ext cx="1143297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59484635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649329" y="6116069"/>
            <a:ext cx="7086022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6828437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031089" y="6116069"/>
            <a:ext cx="55131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3F4B3BE-ACDF-5959-D441-D7D18138F1BE}" type="slidenum">
              <a:rPr lang="en-US"/>
              <a:t>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1"/>
  <p:txStyles>
    <p:titleStyle>
      <a:lvl1pPr algn="ctr" defTabSz="457200" rtl="0">
        <a:spcBef>
          <a:spcPts val="0"/>
        </a:spcBef>
        <a:buNone/>
        <a:defRPr sz="4000" cap="none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cap="none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cap="none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cap="none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spcAft>
          <a:spcPts val="599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rxiv.org/html/2603.08235v1" TargetMode="External"/><Relationship Id="rId4" Type="http://schemas.openxmlformats.org/officeDocument/2006/relationships/hyperlink" Target="https://arxiv.org/pdf/2603.08235" TargetMode="External"/><Relationship Id="rId5" Type="http://schemas.openxmlformats.org/officeDocument/2006/relationships/hyperlink" Target="https://github.com/BiDAlab/UWF4DR-Benchmark" TargetMode="External"/><Relationship Id="rId6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xiv.org/pdf/2503.18151" TargetMode="External"/><Relationship Id="rId4" Type="http://schemas.openxmlformats.org/officeDocument/2006/relationships/hyperlink" Target="https://arxiv.org/abs/2503.18151" TargetMode="External"/><Relationship Id="rId5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xiv.org/html/2410.06483v2" TargetMode="External"/><Relationship Id="rId4" Type="http://schemas.openxmlformats.org/officeDocument/2006/relationships/hyperlink" Target="https://arxiv.org/pdf/2410.06483v2" TargetMode="External"/><Relationship Id="rId5" Type="http://schemas.openxmlformats.org/officeDocument/2006/relationships/hyperlink" Target="https://link.springer.com/chapter/10.1007/978-3-031-86651-7_6" TargetMode="External"/><Relationship Id="rId6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sciencedirect.com/science/article/pii/S174680942501184X" TargetMode="External"/><Relationship Id="rId4" Type="http://schemas.openxmlformats.org/officeDocument/2006/relationships/hyperlink" Target="https://doi.org/10.1016/j.bspc.2025.108673" TargetMode="External"/><Relationship Id="rId5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rxiv.org/pdf/2412.02825" TargetMode="External"/><Relationship Id="rId4" Type="http://schemas.openxmlformats.org/officeDocument/2006/relationships/hyperlink" Target="https://arxiv.org/abs/2412.02825" TargetMode="External"/><Relationship Id="rId5" Type="http://schemas.openxmlformats.org/officeDocument/2006/relationships/hyperlink" Target="https://github.com/Retinal-Research/NN-MOBILENET" TargetMode="External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086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C4A93F9-A6C2-48AD-35CF-DEBBDC443905}" type="slidenum">
              <a:rPr lang="en-US"/>
              <a:t>1</a:t>
            </a:fld>
            <a:endParaRPr lang="en-US"/>
          </a:p>
        </p:txBody>
      </p:sp>
      <p:sp>
        <p:nvSpPr>
          <p:cNvPr id="315124935" name=""/>
          <p:cNvSpPr txBox="1"/>
          <p:nvPr/>
        </p:nvSpPr>
        <p:spPr bwMode="auto">
          <a:xfrm rot="0" flipH="0" flipV="0">
            <a:off x="1382341" y="714375"/>
            <a:ext cx="9716911" cy="454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 b="1" i="0" u="none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2. Exploring Deep Learning and Ultra-Widefield Imaging for Diabetic Retinopathy and Macular Edema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000" b="0" i="1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Jimenez-Lizcano et al., March 2026, arXiv (CC BY-NC-ND 4.0)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Methodology: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Benchmarks MobileNetV2, ResNet18, ViT-B/16 and the RETFound foundation model on RGB and frequency-domain (DFT) inputs. It adds feature-level fusion with an MLP and Grad-CAM explainability.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Dataset: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UWF4DR challenge set with their own 64/16/20 split (about 251 images for referable DR and 212 for DME).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Advantages: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Covers all three tasks (quality, referable DR, DME) and includes public code and explainability.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Limitations: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Single dataset, binary tasks only, and very small test sets.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Results: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RGB fusion gets 100% on referable DR (treat with caution, since the test set is only 50 images), AUROC 96.8% on DME and 96.4% on quality assessment.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Download: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3" tooltip=""/>
              </a:rPr>
              <a:t>arXiv HTML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· </a:t>
            </a:r>
            <a:r>
              <a:rPr sz="20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4" tooltip=""/>
              </a:rPr>
              <a:t>arXiv PDF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· </a:t>
            </a:r>
            <a:r>
              <a:rPr sz="20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5" tooltip=""/>
              </a:rPr>
              <a:t>Code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599209396" name="Google Shape;130;p13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10163432" y="476672"/>
            <a:ext cx="1135965" cy="73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148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4E5CC3B4-8D07-D91D-18ED-8BAE59202904}" type="slidenum">
              <a:rPr lang="en-US"/>
              <a:t>26</a:t>
            </a:fld>
            <a:endParaRPr lang="en-US"/>
          </a:p>
        </p:txBody>
      </p:sp>
      <p:sp>
        <p:nvSpPr>
          <p:cNvPr id="1303627342" name=""/>
          <p:cNvSpPr txBox="1"/>
          <p:nvPr/>
        </p:nvSpPr>
        <p:spPr bwMode="auto">
          <a:xfrm rot="0" flipH="0" flipV="0">
            <a:off x="1382342" y="714375"/>
            <a:ext cx="9712592" cy="3627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 b="1" i="0" u="none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1. Efficient Deep Learning Approaches for Processing Ultra-Widefield Retinal Imaging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000" b="0" i="1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Kim et al., 2025, arXiv preprint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Methodology: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Ensemble of three EfficientNet-B0 models with augmentation (center crop, flips, rotation, color jitter) and soft voting. It is designed to train and run on a CPU.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Dataset: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MICCAI UWF4DR challenge data, using the referable-DR and DME tasks.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Advantages: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Lightweight and needs no GPU, so it suits low-resource clinics.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Limitations: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The ensemble roughly doubles inference time. The dataset is small, and the team placed 9th in the challenge.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Results: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Ensemble AUROC of 0.9662 (referable DR) and 0.9584 (DME).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Download: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3" tooltip=""/>
              </a:rPr>
              <a:t>arXiv PDF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· </a:t>
            </a:r>
            <a:r>
              <a:rPr sz="20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4" tooltip=""/>
              </a:rPr>
              <a:t>Abstract page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167708539" name="Google Shape;130;p13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10163432" y="476672"/>
            <a:ext cx="1135965" cy="73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4162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2CC3CD39-CC36-3B83-3E01-A2F72BCDE0D6}" type="slidenum">
              <a:rPr lang="en-US"/>
              <a:t>2</a:t>
            </a:fld>
            <a:endParaRPr lang="en-US"/>
          </a:p>
        </p:txBody>
      </p:sp>
      <p:sp>
        <p:nvSpPr>
          <p:cNvPr id="151884704" name=""/>
          <p:cNvSpPr txBox="1"/>
          <p:nvPr/>
        </p:nvSpPr>
        <p:spPr bwMode="auto">
          <a:xfrm rot="0" flipH="0" flipV="0">
            <a:off x="1382341" y="714375"/>
            <a:ext cx="9725549" cy="454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 b="1" i="0" u="none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3. Deep Learning Ensemble for Predicting Diabetic Macular Edema Onset Using Ultra-Wide Field Color Fundus Image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000" b="0" i="1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Qin et al., Springer LNCS 2025 (free arXiv version, CC BY)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Methodology: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Ensemble of ResNet, DenseNet, EfficientNet and VGG to predict center-involved DME onset within 12 months, comparing plurality voting, averaging and label fusion.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Dataset: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DIAMOND challenge synthetic UWF-CFP images derived from DeepDRiD (204 images: 154 train, 50 validation), plus one real patient.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Advantages: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Predicts future DME rather than only detecting it, and aims to generalize across imaging devices.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Limitations: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Trained on synthetic data, and performance is modest. DenseNet-121 alone (AUC 0.7617) beat the final ensemble.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Results: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Final ensemble AUC 0.7017 and F1 0.6512.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Download: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3" tooltip=""/>
              </a:rPr>
              <a:t>arXiv HTML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· </a:t>
            </a:r>
            <a:r>
              <a:rPr sz="20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4" tooltip=""/>
              </a:rPr>
              <a:t>arXiv PDF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· </a:t>
            </a:r>
            <a:r>
              <a:rPr sz="20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5" tooltip=""/>
              </a:rPr>
              <a:t>Springer chapter (paywalled)</a:t>
            </a:r>
            <a:endParaRPr sz="3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2054062206" name="Google Shape;130;p13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10163432" y="476672"/>
            <a:ext cx="1135965" cy="73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4248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EDEC6FB-3A79-672F-D711-C22C75901E0E}" type="slidenum">
              <a:rPr lang="en-US"/>
              <a:t>3</a:t>
            </a:fld>
            <a:endParaRPr lang="en-US"/>
          </a:p>
        </p:txBody>
      </p:sp>
      <p:sp>
        <p:nvSpPr>
          <p:cNvPr id="1324397577" name=""/>
          <p:cNvSpPr txBox="1"/>
          <p:nvPr/>
        </p:nvSpPr>
        <p:spPr bwMode="auto">
          <a:xfrm rot="0" flipH="0" flipV="0">
            <a:off x="1382341" y="1131093"/>
            <a:ext cx="9733469" cy="44199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 i="0" u="none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4. Automated Multimodal Severity Assessment of Diabetic Retinopathy Using Ultra-Widefield Color Fundus Photography and Clinical Tabular Data</a:t>
            </a:r>
            <a:endParaRPr sz="2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600" b="0" i="1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Rezaei et al., Biomedical Signal Processing and Control (Elsevier), 2025, open access</a:t>
            </a:r>
            <a:endParaRPr sz="2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Methodology:</a:t>
            </a:r>
            <a:r>
              <a:rPr sz="1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 multimodal deep learning framework that combines 2D UWF color fundus photos with 76 clinical tabular features (demographic, biochemical and clinical parameters) to classify DR severity stages. It uses a patient-level data split, so images from the same patient never end up in both train and test.</a:t>
            </a:r>
            <a:endParaRPr sz="2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Dataset:</a:t>
            </a:r>
            <a:r>
              <a:rPr sz="1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UWF-CFP images from the CLARUS 500 device (Carl Zeiss Meditec), with clinical data from the EVIRED project. External validation used two public Brazilian datasets, BRSET and mBRSET.</a:t>
            </a:r>
            <a:endParaRPr sz="2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Advantages:</a:t>
            </a:r>
            <a:r>
              <a:rPr sz="1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The fusion model beat models using imaging alone or clinical data alone. It generalized to the two external datasets, and the patient-level split avoids inflated scores.</a:t>
            </a:r>
            <a:endParaRPr sz="2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Limitations:</a:t>
            </a:r>
            <a:r>
              <a:rPr sz="1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The gain is small (+2.1% accuracy over image-only) and the absolute multiclass accuracy is only 63.4%. It grades DR severity only, with no DME. The EVIRED data is private, and the model needs clinical tabular data to be available at screening time.</a:t>
            </a:r>
            <a:endParaRPr sz="2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Results:</a:t>
            </a:r>
            <a:r>
              <a:rPr sz="1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Multiclass accuracy of 63.4% and kappa of 0.807, which is 2.1% higher accuracy and 0.022 higher kappa than the image-only classifier. On the external datasets, kappa improved by 0.065 (BRSET) and 0.048 (mBRSET) over image-only.</a:t>
            </a:r>
            <a:endParaRPr sz="22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Download:</a:t>
            </a:r>
            <a:r>
              <a:rPr sz="1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3" tooltip=""/>
              </a:rPr>
              <a:t>ScienceDirect (open access)</a:t>
            </a:r>
            <a:r>
              <a:rPr sz="1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· </a:t>
            </a:r>
            <a:r>
              <a:rPr sz="16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4" tooltip=""/>
              </a:rPr>
              <a:t>DOI: 10.1016/j.bspc.2025.108673</a:t>
            </a:r>
            <a:endParaRPr sz="2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309790533" name="Google Shape;130;p13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10163432" y="476672"/>
            <a:ext cx="1135965" cy="73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87255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B255B802-6CAD-1026-878D-279277098BC5}" type="slidenum">
              <a:rPr lang="en-US"/>
              <a:t>4</a:t>
            </a:fld>
            <a:endParaRPr lang="en-US"/>
          </a:p>
        </p:txBody>
      </p:sp>
      <p:sp>
        <p:nvSpPr>
          <p:cNvPr id="1060258031" name=""/>
          <p:cNvSpPr txBox="1"/>
          <p:nvPr/>
        </p:nvSpPr>
        <p:spPr bwMode="auto">
          <a:xfrm rot="0" flipH="0" flipV="0">
            <a:off x="1382341" y="1131093"/>
            <a:ext cx="9733829" cy="454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 b="1" i="0" u="none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5. Many-MobileNet: Multi-Model Augmentation for Robust Retinal Disease Classification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000" b="0" i="1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Wang et al., Dec 2024, arXiv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Methodology: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Fuses three nnMobileNet models (two lightweight, one medium) with squeeze-and-excitation blocks. Each is trained with different augmentation, and predictions are combined by voting.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Dataset: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UWF4DR quality-assessment task, 434 images (205 ungradable, 229 gradable).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Advantages: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Efficient and robust on small data, and quality gating is the first step of a UWF screening pipeline.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Limitations: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Covers image quality only, not DR or DME. Fusion slows inference and didn't help on the validation set.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Results: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3rd place in the challenge with AUROC 0.9525, AUPRC 0.9683, sensitivity 0.8983 and specificity 0.925.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Download: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3" tooltip=""/>
              </a:rPr>
              <a:t>arXiv PDF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· </a:t>
            </a:r>
            <a:r>
              <a:rPr sz="20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4" tooltip=""/>
              </a:rPr>
              <a:t>Abstract page</a:t>
            </a:r>
            <a:r>
              <a:rPr sz="20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· </a:t>
            </a:r>
            <a:r>
              <a:rPr sz="2000" b="0" i="0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5" tooltip=""/>
              </a:rPr>
              <a:t>Code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022036998" name="Google Shape;130;p13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10163432" y="476672"/>
            <a:ext cx="1135965" cy="73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">
      <a:majorFont>
        <a:latin typeface="Corbel"/>
        <a:ea typeface="Arial"/>
        <a:cs typeface="Arial"/>
      </a:majorFont>
      <a:minorFont>
        <a:latin typeface="Corbel"/>
        <a:ea typeface="Arial"/>
        <a:cs typeface="Arial"/>
      </a:minorFont>
    </a:fontScheme>
    <a:fmtScheme name="Parallax"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/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2026-10-28T17:44:27Z</dcterms:modified>
</cp:coreProperties>
</file>